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0" r:id="rId5"/>
    <p:sldId id="261" r:id="rId6"/>
    <p:sldId id="263" r:id="rId7"/>
    <p:sldId id="264" r:id="rId8"/>
    <p:sldId id="265" r:id="rId9"/>
    <p:sldId id="266" r:id="rId10"/>
    <p:sldId id="267" r:id="rId11"/>
    <p:sldId id="268" r:id="rId12"/>
    <p:sldId id="269" r:id="rId13"/>
    <p:sldId id="270" r:id="rId14"/>
    <p:sldId id="271" r:id="rId15"/>
    <p:sldId id="272" r:id="rId16"/>
    <p:sldId id="27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D5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9"/>
    <p:restoredTop sz="94610"/>
  </p:normalViewPr>
  <p:slideViewPr>
    <p:cSldViewPr snapToGrid="0" snapToObjects="1">
      <p:cViewPr>
        <p:scale>
          <a:sx n="286" d="100"/>
          <a:sy n="286" d="100"/>
        </p:scale>
        <p:origin x="102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500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1601214" y="1885950"/>
            <a:ext cx="5941570" cy="685800"/>
          </a:xfrm>
          <a:prstGeom prst="rect">
            <a:avLst/>
          </a:prstGeom>
          <a:noFill/>
          <a:ln/>
        </p:spPr>
        <p:txBody>
          <a:bodyPr wrap="square" lIns="0" tIns="0" rIns="0" bIns="0" rtlCol="0" anchor="t"/>
          <a:lstStyle/>
          <a:p>
            <a:pPr algn="ctr">
              <a:lnSpc>
                <a:spcPts val="5400"/>
              </a:lnSpc>
            </a:pPr>
            <a:r>
              <a:rPr lang="en-US" sz="4500" b="1" dirty="0">
                <a:solidFill>
                  <a:srgbClr val="38BDF8"/>
                </a:solidFill>
                <a:latin typeface="Arial" pitchFamily="34" charset="0"/>
                <a:ea typeface="Arial" pitchFamily="34" charset="-122"/>
                <a:cs typeface="Arial" pitchFamily="34" charset="-120"/>
              </a:rPr>
              <a:t>The Sound of Silence</a:t>
            </a:r>
            <a:endParaRPr lang="en-US" sz="4500" dirty="0"/>
          </a:p>
        </p:txBody>
      </p:sp>
      <p:sp>
        <p:nvSpPr>
          <p:cNvPr id="3" name="Text 1"/>
          <p:cNvSpPr/>
          <p:nvPr/>
        </p:nvSpPr>
        <p:spPr>
          <a:xfrm>
            <a:off x="1746156" y="2724150"/>
            <a:ext cx="5651689" cy="314325"/>
          </a:xfrm>
          <a:prstGeom prst="rect">
            <a:avLst/>
          </a:prstGeom>
          <a:noFill/>
          <a:ln/>
        </p:spPr>
        <p:txBody>
          <a:bodyPr wrap="square" lIns="0" tIns="0" rIns="0" bIns="0" rtlCol="0" anchor="t"/>
          <a:lstStyle/>
          <a:p>
            <a:pPr marL="0" indent="0" algn="ctr">
              <a:lnSpc>
                <a:spcPts val="2520"/>
              </a:lnSpc>
              <a:buNone/>
            </a:pPr>
            <a:r>
              <a:rPr lang="en-US" sz="1800" dirty="0">
                <a:solidFill>
                  <a:srgbClr val="CBD5E1"/>
                </a:solidFill>
                <a:latin typeface="Arial" pitchFamily="34" charset="0"/>
                <a:ea typeface="Arial" pitchFamily="34" charset="-122"/>
                <a:cs typeface="Arial" pitchFamily="34" charset="-120"/>
              </a:rPr>
              <a:t>Understanding Gender Attitudes, Leadership &amp; Taboos</a:t>
            </a:r>
            <a:endParaRPr lang="en-US" sz="1800" dirty="0"/>
          </a:p>
        </p:txBody>
      </p:sp>
      <p:sp>
        <p:nvSpPr>
          <p:cNvPr id="5" name="Text 3"/>
          <p:cNvSpPr/>
          <p:nvPr/>
        </p:nvSpPr>
        <p:spPr>
          <a:xfrm>
            <a:off x="2485039" y="4405254"/>
            <a:ext cx="4173921" cy="178322"/>
          </a:xfrm>
          <a:prstGeom prst="rect">
            <a:avLst/>
          </a:prstGeom>
          <a:noFill/>
          <a:ln/>
        </p:spPr>
        <p:txBody>
          <a:bodyPr wrap="square" lIns="0" tIns="0" rIns="0" bIns="0" rtlCol="0" anchor="t"/>
          <a:lstStyle/>
          <a:p>
            <a:pPr algn="ctr">
              <a:lnSpc>
                <a:spcPts val="1470"/>
              </a:lnSpc>
            </a:pPr>
            <a:r>
              <a:rPr lang="en-US" sz="1050" dirty="0">
                <a:solidFill>
                  <a:srgbClr val="94A3B8"/>
                </a:solidFill>
                <a:latin typeface="Arial" pitchFamily="34" charset="0"/>
                <a:ea typeface="Arial" pitchFamily="34" charset="-122"/>
                <a:cs typeface="Arial" pitchFamily="34" charset="-120"/>
              </a:rPr>
              <a:t>Maor </a:t>
            </a:r>
            <a:r>
              <a:rPr lang="en-US" sz="1050" dirty="0" err="1">
                <a:solidFill>
                  <a:srgbClr val="94A3B8"/>
                </a:solidFill>
                <a:latin typeface="Arial" pitchFamily="34" charset="0"/>
                <a:ea typeface="Arial" pitchFamily="34" charset="-122"/>
                <a:cs typeface="Arial" pitchFamily="34" charset="-120"/>
              </a:rPr>
              <a:t>Adirim</a:t>
            </a:r>
            <a:r>
              <a:rPr lang="en-US" sz="1050" dirty="0">
                <a:solidFill>
                  <a:srgbClr val="94A3B8"/>
                </a:solidFill>
                <a:latin typeface="Arial" pitchFamily="34" charset="0"/>
                <a:ea typeface="Arial" pitchFamily="34" charset="-122"/>
                <a:cs typeface="Arial" pitchFamily="34" charset="-120"/>
              </a:rPr>
              <a:t> and Niv Libovitch</a:t>
            </a:r>
          </a:p>
          <a:p>
            <a:pPr algn="ctr">
              <a:lnSpc>
                <a:spcPts val="1470"/>
              </a:lnSpc>
            </a:pPr>
            <a:endParaRPr lang="en-US" sz="1050" dirty="0">
              <a:solidFill>
                <a:srgbClr val="94A3B8"/>
              </a:solidFill>
              <a:latin typeface="Arial" pitchFamily="34" charset="0"/>
              <a:ea typeface="Arial" pitchFamily="34" charset="-122"/>
              <a:cs typeface="Arial"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What Are We Exploring?</a:t>
            </a:r>
            <a:endParaRPr lang="en-US" sz="2700" dirty="0"/>
          </a:p>
        </p:txBody>
      </p:sp>
      <p:sp>
        <p:nvSpPr>
          <p:cNvPr id="3" name="Text 1"/>
          <p:cNvSpPr/>
          <p:nvPr/>
        </p:nvSpPr>
        <p:spPr>
          <a:xfrm>
            <a:off x="609600" y="1609725"/>
            <a:ext cx="7257263" cy="1181100"/>
          </a:xfrm>
          <a:prstGeom prst="rect">
            <a:avLst/>
          </a:prstGeom>
          <a:noFill/>
          <a:ln/>
        </p:spPr>
        <p:txBody>
          <a:bodyPr wrap="square" lIns="0" tIns="0" rIns="0" bIns="0" rtlCol="0" anchor="t"/>
          <a:lstStyle/>
          <a:p>
            <a:pPr marL="0" indent="0">
              <a:lnSpc>
                <a:spcPts val="2376"/>
              </a:lnSpc>
              <a:buNone/>
            </a:pPr>
            <a:r>
              <a:rPr lang="en-US" sz="1320" dirty="0">
                <a:solidFill>
                  <a:srgbClr val="CBD5E1"/>
                </a:solidFill>
                <a:latin typeface="Arial" pitchFamily="34" charset="0"/>
                <a:ea typeface="Arial" pitchFamily="34" charset="-122"/>
                <a:cs typeface="Arial" pitchFamily="34" charset="-120"/>
              </a:rPr>
              <a:t>Where do people around the world hesitate to express their views on gender, family roles, and leadership? How do topics we avoid</a:t>
            </a:r>
            <a:r>
              <a:rPr lang="he-IL" sz="1320" dirty="0">
                <a:solidFill>
                  <a:srgbClr val="CBD5E1"/>
                </a:solidFill>
                <a:latin typeface="Arial" pitchFamily="34" charset="0"/>
                <a:ea typeface="Arial" pitchFamily="34" charset="-122"/>
                <a:cs typeface="Arial" pitchFamily="34" charset="-120"/>
              </a:rPr>
              <a:t> </a:t>
            </a:r>
            <a:r>
              <a:rPr lang="en-US" sz="1320" dirty="0">
                <a:solidFill>
                  <a:srgbClr val="CBD5E1"/>
                </a:solidFill>
                <a:latin typeface="Arial" pitchFamily="34" charset="0"/>
                <a:ea typeface="Arial" pitchFamily="34" charset="-122"/>
                <a:cs typeface="Arial" pitchFamily="34" charset="-120"/>
              </a:rPr>
              <a:t>differ across countries and cultures? And perhaps most importantly: is there a measurable gap between what people think about leadership versus what they think about household control?</a:t>
            </a:r>
            <a:endParaRPr lang="en-US" sz="1320" dirty="0"/>
          </a:p>
        </p:txBody>
      </p:sp>
      <p:sp>
        <p:nvSpPr>
          <p:cNvPr id="4" name="Text 2"/>
          <p:cNvSpPr/>
          <p:nvPr/>
        </p:nvSpPr>
        <p:spPr>
          <a:xfrm>
            <a:off x="609600" y="3362325"/>
            <a:ext cx="7128793" cy="885825"/>
          </a:xfrm>
          <a:prstGeom prst="rect">
            <a:avLst/>
          </a:prstGeom>
          <a:noFill/>
          <a:ln/>
        </p:spPr>
        <p:txBody>
          <a:bodyPr wrap="square" lIns="0" tIns="0" rIns="0" bIns="0" rtlCol="0" anchor="t"/>
          <a:lstStyle/>
          <a:p>
            <a:pPr marL="0" indent="0">
              <a:lnSpc>
                <a:spcPts val="2376"/>
              </a:lnSpc>
              <a:buNone/>
            </a:pPr>
            <a:r>
              <a:rPr lang="en-US" sz="1320" dirty="0">
                <a:solidFill>
                  <a:srgbClr val="CBD5E1"/>
                </a:solidFill>
                <a:latin typeface="Arial" pitchFamily="34" charset="0"/>
                <a:ea typeface="Arial" pitchFamily="34" charset="-122"/>
                <a:cs typeface="Arial" pitchFamily="34" charset="-120"/>
              </a:rPr>
              <a:t>Which demographic groups - age, gender, region - show the most distinct patterns of silence? These questions guide our analysis of 45,762 survey responses across 31 countries, seeking to understand the hidden geography of cultural discomfort.</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5" name="Text 3"/>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Data Foundation</a:t>
            </a:r>
            <a:endParaRPr lang="en-US" sz="2700" dirty="0"/>
          </a:p>
        </p:txBody>
      </p:sp>
      <p:sp>
        <p:nvSpPr>
          <p:cNvPr id="6" name="Text 4"/>
          <p:cNvSpPr/>
          <p:nvPr/>
        </p:nvSpPr>
        <p:spPr>
          <a:xfrm>
            <a:off x="609600" y="1247775"/>
            <a:ext cx="7924800" cy="13335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Our analysis draws from survey data spanning 31 countries across six continents. The dataset contains 45,762 respondents answering questions about gender attitudes, women's leadership, parental responsibilities, work-family balance, new family structures, household division of labor, and personal wellbeing. Responses capture fine-grained attitudes from "strongly agree" to "strongly disagree," with a critical category: "no opinion”.</a:t>
            </a:r>
            <a:endParaRPr lang="en-US" sz="1350" dirty="0"/>
          </a:p>
        </p:txBody>
      </p:sp>
      <p:grpSp>
        <p:nvGrpSpPr>
          <p:cNvPr id="13" name="Group 12">
            <a:extLst>
              <a:ext uri="{FF2B5EF4-FFF2-40B4-BE49-F238E27FC236}">
                <a16:creationId xmlns:a16="http://schemas.microsoft.com/office/drawing/2014/main" id="{1C53A775-52E8-D3CE-6C3F-00545D47A706}"/>
              </a:ext>
            </a:extLst>
          </p:cNvPr>
          <p:cNvGrpSpPr/>
          <p:nvPr/>
        </p:nvGrpSpPr>
        <p:grpSpPr>
          <a:xfrm>
            <a:off x="621511" y="3245471"/>
            <a:ext cx="2805398" cy="1095375"/>
            <a:chOff x="609600" y="2809875"/>
            <a:chExt cx="1739049" cy="1095375"/>
          </a:xfrm>
        </p:grpSpPr>
        <p:sp>
          <p:nvSpPr>
            <p:cNvPr id="2" name="Text 0"/>
            <p:cNvSpPr/>
            <p:nvPr/>
          </p:nvSpPr>
          <p:spPr>
            <a:xfrm>
              <a:off x="609600" y="2809875"/>
              <a:ext cx="1539711" cy="1095375"/>
            </a:xfrm>
            <a:prstGeom prst="rect">
              <a:avLst/>
            </a:prstGeom>
            <a:solidFill>
              <a:srgbClr val="1E293B"/>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7" name="Text 5"/>
            <p:cNvSpPr/>
            <p:nvPr/>
          </p:nvSpPr>
          <p:spPr>
            <a:xfrm>
              <a:off x="876300" y="3038475"/>
              <a:ext cx="1472349" cy="381000"/>
            </a:xfrm>
            <a:prstGeom prst="rect">
              <a:avLst/>
            </a:prstGeom>
            <a:noFill/>
            <a:ln/>
          </p:spPr>
          <p:txBody>
            <a:bodyPr wrap="square" lIns="0" tIns="0" rIns="0" bIns="0" rtlCol="0" anchor="t"/>
            <a:lstStyle/>
            <a:p>
              <a:pPr marL="0" indent="0">
                <a:lnSpc>
                  <a:spcPts val="3000"/>
                </a:lnSpc>
                <a:buNone/>
              </a:pPr>
              <a:r>
                <a:rPr lang="en-US" sz="3000" b="1" dirty="0">
                  <a:solidFill>
                    <a:srgbClr val="38BDF8"/>
                  </a:solidFill>
                  <a:latin typeface="Arial" pitchFamily="34" charset="0"/>
                  <a:ea typeface="Arial" pitchFamily="34" charset="-122"/>
                  <a:cs typeface="Arial" pitchFamily="34" charset="-120"/>
                </a:rPr>
                <a:t>31</a:t>
              </a:r>
              <a:endParaRPr lang="en-US" sz="3000" dirty="0"/>
            </a:p>
          </p:txBody>
        </p:sp>
        <p:sp>
          <p:nvSpPr>
            <p:cNvPr id="8" name="Text 6"/>
            <p:cNvSpPr/>
            <p:nvPr/>
          </p:nvSpPr>
          <p:spPr>
            <a:xfrm>
              <a:off x="876300" y="3495675"/>
              <a:ext cx="1472349"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Countries</a:t>
              </a:r>
              <a:endParaRPr lang="en-US" sz="1050" dirty="0"/>
            </a:p>
          </p:txBody>
        </p:sp>
      </p:grpSp>
      <p:grpSp>
        <p:nvGrpSpPr>
          <p:cNvPr id="14" name="Group 13">
            <a:extLst>
              <a:ext uri="{FF2B5EF4-FFF2-40B4-BE49-F238E27FC236}">
                <a16:creationId xmlns:a16="http://schemas.microsoft.com/office/drawing/2014/main" id="{13D0B6E8-189E-D004-ABF9-C5635A2A1A0A}"/>
              </a:ext>
            </a:extLst>
          </p:cNvPr>
          <p:cNvGrpSpPr/>
          <p:nvPr/>
        </p:nvGrpSpPr>
        <p:grpSpPr>
          <a:xfrm>
            <a:off x="3403759" y="3245471"/>
            <a:ext cx="2805398" cy="1095375"/>
            <a:chOff x="609600" y="3905250"/>
            <a:chExt cx="1739049" cy="1095375"/>
          </a:xfrm>
        </p:grpSpPr>
        <p:sp>
          <p:nvSpPr>
            <p:cNvPr id="3" name="Text 1"/>
            <p:cNvSpPr/>
            <p:nvPr/>
          </p:nvSpPr>
          <p:spPr>
            <a:xfrm>
              <a:off x="609600" y="3905250"/>
              <a:ext cx="1539711" cy="1095375"/>
            </a:xfrm>
            <a:prstGeom prst="rect">
              <a:avLst/>
            </a:prstGeom>
            <a:solidFill>
              <a:srgbClr val="1E293B"/>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9" name="Text 7"/>
            <p:cNvSpPr/>
            <p:nvPr/>
          </p:nvSpPr>
          <p:spPr>
            <a:xfrm>
              <a:off x="876300" y="4133850"/>
              <a:ext cx="1472349" cy="381000"/>
            </a:xfrm>
            <a:prstGeom prst="rect">
              <a:avLst/>
            </a:prstGeom>
            <a:noFill/>
            <a:ln/>
          </p:spPr>
          <p:txBody>
            <a:bodyPr wrap="square" lIns="0" tIns="0" rIns="0" bIns="0" rtlCol="0" anchor="t"/>
            <a:lstStyle/>
            <a:p>
              <a:pPr marL="0" indent="0">
                <a:lnSpc>
                  <a:spcPts val="3000"/>
                </a:lnSpc>
                <a:buNone/>
              </a:pPr>
              <a:r>
                <a:rPr lang="en-US" sz="3000" b="1" dirty="0">
                  <a:solidFill>
                    <a:srgbClr val="38BDF8"/>
                  </a:solidFill>
                  <a:latin typeface="Arial" pitchFamily="34" charset="0"/>
                  <a:ea typeface="Arial" pitchFamily="34" charset="-122"/>
                  <a:cs typeface="Arial" pitchFamily="34" charset="-120"/>
                </a:rPr>
                <a:t>45.7K</a:t>
              </a:r>
              <a:endParaRPr lang="en-US" sz="3000" dirty="0"/>
            </a:p>
          </p:txBody>
        </p:sp>
        <p:sp>
          <p:nvSpPr>
            <p:cNvPr id="10" name="Text 8"/>
            <p:cNvSpPr/>
            <p:nvPr/>
          </p:nvSpPr>
          <p:spPr>
            <a:xfrm>
              <a:off x="876300" y="4591050"/>
              <a:ext cx="1472349"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Respondents</a:t>
              </a:r>
              <a:endParaRPr lang="en-US" sz="1050" dirty="0"/>
            </a:p>
          </p:txBody>
        </p:sp>
      </p:grpSp>
      <p:grpSp>
        <p:nvGrpSpPr>
          <p:cNvPr id="15" name="Group 14">
            <a:extLst>
              <a:ext uri="{FF2B5EF4-FFF2-40B4-BE49-F238E27FC236}">
                <a16:creationId xmlns:a16="http://schemas.microsoft.com/office/drawing/2014/main" id="{DD53E9BA-BC9D-808C-63B9-164DD6BFA934}"/>
              </a:ext>
            </a:extLst>
          </p:cNvPr>
          <p:cNvGrpSpPr/>
          <p:nvPr/>
        </p:nvGrpSpPr>
        <p:grpSpPr>
          <a:xfrm>
            <a:off x="6130258" y="3245471"/>
            <a:ext cx="2805398" cy="1095375"/>
            <a:chOff x="609600" y="5000625"/>
            <a:chExt cx="1739049" cy="1095375"/>
          </a:xfrm>
        </p:grpSpPr>
        <p:sp>
          <p:nvSpPr>
            <p:cNvPr id="4" name="Text 2"/>
            <p:cNvSpPr/>
            <p:nvPr/>
          </p:nvSpPr>
          <p:spPr>
            <a:xfrm>
              <a:off x="609600" y="5000625"/>
              <a:ext cx="1539711" cy="1095375"/>
            </a:xfrm>
            <a:prstGeom prst="rect">
              <a:avLst/>
            </a:prstGeom>
            <a:solidFill>
              <a:srgbClr val="1E293B"/>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11" name="Text 9"/>
            <p:cNvSpPr/>
            <p:nvPr/>
          </p:nvSpPr>
          <p:spPr>
            <a:xfrm>
              <a:off x="876300" y="5229225"/>
              <a:ext cx="1472349" cy="381000"/>
            </a:xfrm>
            <a:prstGeom prst="rect">
              <a:avLst/>
            </a:prstGeom>
            <a:noFill/>
            <a:ln/>
          </p:spPr>
          <p:txBody>
            <a:bodyPr wrap="square" lIns="0" tIns="0" rIns="0" bIns="0" rtlCol="0" anchor="t"/>
            <a:lstStyle/>
            <a:p>
              <a:pPr marL="0" indent="0">
                <a:lnSpc>
                  <a:spcPts val="3000"/>
                </a:lnSpc>
                <a:buNone/>
              </a:pPr>
              <a:r>
                <a:rPr lang="en-US" sz="3000" b="1" dirty="0">
                  <a:solidFill>
                    <a:srgbClr val="38BDF8"/>
                  </a:solidFill>
                  <a:latin typeface="Arial" pitchFamily="34" charset="0"/>
                  <a:ea typeface="Arial" pitchFamily="34" charset="-122"/>
                  <a:cs typeface="Arial" pitchFamily="34" charset="-120"/>
                </a:rPr>
                <a:t>7</a:t>
              </a:r>
              <a:endParaRPr lang="en-US" sz="3000" dirty="0"/>
            </a:p>
          </p:txBody>
        </p:sp>
        <p:sp>
          <p:nvSpPr>
            <p:cNvPr id="12" name="Text 10"/>
            <p:cNvSpPr/>
            <p:nvPr/>
          </p:nvSpPr>
          <p:spPr>
            <a:xfrm>
              <a:off x="876300" y="5686425"/>
              <a:ext cx="1472349"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Key Dimensions</a:t>
              </a:r>
              <a:endParaRPr lang="en-US" sz="105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798290" y="1962150"/>
          <a:ext cx="5547272" cy="1381125"/>
        </p:xfrm>
        <a:graphic>
          <a:graphicData uri="http://schemas.openxmlformats.org/drawingml/2006/table">
            <a:tbl>
              <a:tblPr/>
              <a:tblGrid>
                <a:gridCol w="2773636">
                  <a:extLst>
                    <a:ext uri="{9D8B030D-6E8A-4147-A177-3AD203B41FA5}">
                      <a16:colId xmlns:a16="http://schemas.microsoft.com/office/drawing/2014/main" val="20000"/>
                    </a:ext>
                  </a:extLst>
                </a:gridCol>
                <a:gridCol w="2773636">
                  <a:extLst>
                    <a:ext uri="{9D8B030D-6E8A-4147-A177-3AD203B41FA5}">
                      <a16:colId xmlns:a16="http://schemas.microsoft.com/office/drawing/2014/main" val="20001"/>
                    </a:ext>
                  </a:extLst>
                </a:gridCol>
              </a:tblGrid>
              <a:tr h="460375">
                <a:tc>
                  <a:txBody>
                    <a:bodyPr/>
                    <a:lstStyle/>
                    <a:p>
                      <a:pPr marL="0" indent="0" algn="l">
                        <a:buNone/>
                      </a:pPr>
                      <a:r>
                        <a:rPr lang="en-US" sz="1140" dirty="0">
                          <a:solidFill>
                            <a:srgbClr val="CBD5E1"/>
                          </a:solidFill>
                          <a:latin typeface="Arial" pitchFamily="34" charset="0"/>
                          <a:ea typeface="Arial" pitchFamily="34" charset="-122"/>
                          <a:cs typeface="Arial" pitchFamily="34" charset="-120"/>
                        </a:rPr>
                        <a:t>Mean silence rate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tc>
                  <a:txBody>
                    <a:bodyPr/>
                    <a:lstStyle/>
                    <a:p>
                      <a:pPr marL="0" indent="0" algn="r">
                        <a:buNone/>
                      </a:pPr>
                      <a:r>
                        <a:rPr lang="en-US" sz="1560" b="1" dirty="0">
                          <a:solidFill>
                            <a:srgbClr val="38BDF8"/>
                          </a:solidFill>
                          <a:latin typeface="Arial" pitchFamily="34" charset="0"/>
                          <a:ea typeface="Arial" pitchFamily="34" charset="-122"/>
                          <a:cs typeface="Arial" pitchFamily="34" charset="-120"/>
                        </a:rPr>
                        <a:t>3.82%</a:t>
                      </a:r>
                      <a:endParaRPr lang="en-US" sz="1560" dirty="0">
                        <a:latin typeface="Arial" charset="0"/>
                        <a:ea typeface="Arial" charset="0"/>
                        <a:cs typeface="Arial" charset="0"/>
                      </a:endParaRPr>
                    </a:p>
                  </a:txBody>
                  <a:tcPr anchor="ctr">
                    <a:lnL w="0" cap="flat" cmpd="sng" algn="ctr">
                      <a:noFill/>
                    </a:lnL>
                    <a:lnR w="0" cap="flat" cmpd="sng" algn="ctr">
                      <a:noFill/>
                    </a:lnR>
                    <a:lnT w="0" cap="flat" cmpd="sng" algn="ctr">
                      <a:noFill/>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0"/>
                  </a:ext>
                </a:extLst>
              </a:tr>
              <a:tr h="460375">
                <a:tc>
                  <a:txBody>
                    <a:bodyPr/>
                    <a:lstStyle/>
                    <a:p>
                      <a:pPr marL="0" indent="0" algn="l">
                        <a:buNone/>
                      </a:pPr>
                      <a:r>
                        <a:rPr lang="en-US" sz="1140" dirty="0">
                          <a:solidFill>
                            <a:srgbClr val="CBD5E1"/>
                          </a:solidFill>
                          <a:latin typeface="Arial" pitchFamily="34" charset="0"/>
                          <a:ea typeface="Arial" pitchFamily="34" charset="-122"/>
                          <a:cs typeface="Arial" pitchFamily="34" charset="-120"/>
                        </a:rPr>
                        <a:t>Median silence rate</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r">
                        <a:buNone/>
                      </a:pPr>
                      <a:r>
                        <a:rPr lang="en-US" sz="1560" b="1" dirty="0">
                          <a:solidFill>
                            <a:srgbClr val="38BDF8"/>
                          </a:solidFill>
                          <a:latin typeface="Arial" pitchFamily="34" charset="0"/>
                          <a:ea typeface="Arial" pitchFamily="34" charset="-122"/>
                          <a:cs typeface="Arial" pitchFamily="34" charset="-120"/>
                        </a:rPr>
                        <a:t>3.48%</a:t>
                      </a:r>
                      <a:endParaRPr lang="en-US" sz="156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60375">
                <a:tc>
                  <a:txBody>
                    <a:bodyPr/>
                    <a:lstStyle/>
                    <a:p>
                      <a:pPr marL="0" indent="0" algn="l">
                        <a:buNone/>
                      </a:pPr>
                      <a:r>
                        <a:rPr lang="en-US" sz="1140" dirty="0">
                          <a:solidFill>
                            <a:srgbClr val="CBD5E1"/>
                          </a:solidFill>
                          <a:latin typeface="Arial" pitchFamily="34" charset="0"/>
                          <a:ea typeface="Arial" pitchFamily="34" charset="-122"/>
                          <a:cs typeface="Arial" pitchFamily="34" charset="-120"/>
                        </a:rPr>
                        <a:t>Difference</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r">
                        <a:buNone/>
                      </a:pPr>
                      <a:r>
                        <a:rPr lang="en-US" sz="1320" dirty="0">
                          <a:solidFill>
                            <a:srgbClr val="94A3B8"/>
                          </a:solidFill>
                          <a:latin typeface="Arial" pitchFamily="34" charset="0"/>
                          <a:ea typeface="Arial" pitchFamily="34" charset="-122"/>
                          <a:cs typeface="Arial" pitchFamily="34" charset="-120"/>
                        </a:rPr>
                        <a:t>0.33%</a:t>
                      </a:r>
                      <a:endParaRPr lang="en-US" sz="132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Global Silence Rates</a:t>
            </a:r>
            <a:endParaRPr lang="en-US" sz="2700" dirty="0"/>
          </a:p>
        </p:txBody>
      </p:sp>
      <p:sp>
        <p:nvSpPr>
          <p:cNvPr id="4" name="Text 1"/>
          <p:cNvSpPr/>
          <p:nvPr/>
        </p:nvSpPr>
        <p:spPr>
          <a:xfrm>
            <a:off x="2514898" y="1247775"/>
            <a:ext cx="4196337" cy="238125"/>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Average silence across all countries and all questions:</a:t>
            </a:r>
            <a:endParaRPr lang="en-US" sz="1350" dirty="0"/>
          </a:p>
        </p:txBody>
      </p:sp>
      <p:sp>
        <p:nvSpPr>
          <p:cNvPr id="5" name="Text 2"/>
          <p:cNvSpPr/>
          <p:nvPr/>
        </p:nvSpPr>
        <p:spPr>
          <a:xfrm>
            <a:off x="1714033" y="3819525"/>
            <a:ext cx="5715786" cy="714375"/>
          </a:xfrm>
          <a:prstGeom prst="rect">
            <a:avLst/>
          </a:prstGeom>
          <a:noFill/>
          <a:ln/>
        </p:spPr>
        <p:txBody>
          <a:bodyPr wrap="square" lIns="0" tIns="0" rIns="0" bIns="0" rtlCol="0" anchor="t"/>
          <a:lstStyle/>
          <a:p>
            <a:pPr marL="0" indent="0" algn="ctr">
              <a:lnSpc>
                <a:spcPts val="1890"/>
              </a:lnSpc>
              <a:buNone/>
            </a:pPr>
            <a:r>
              <a:rPr lang="en-US" sz="1350" dirty="0">
                <a:solidFill>
                  <a:srgbClr val="CBD5E1"/>
                </a:solidFill>
                <a:latin typeface="Arial" pitchFamily="34" charset="0"/>
                <a:ea typeface="Arial" pitchFamily="34" charset="-122"/>
                <a:cs typeface="Arial" pitchFamily="34" charset="-120"/>
              </a:rPr>
              <a:t>Overall, most people are willing to express opinions on these topics. </a:t>
            </a:r>
          </a:p>
          <a:p>
            <a:pPr marL="0" indent="0" algn="ctr">
              <a:lnSpc>
                <a:spcPts val="1890"/>
              </a:lnSpc>
              <a:buNone/>
            </a:pPr>
            <a:r>
              <a:rPr lang="en-US" sz="1350" dirty="0">
                <a:solidFill>
                  <a:srgbClr val="CBD5E1"/>
                </a:solidFill>
                <a:latin typeface="Arial" pitchFamily="34" charset="0"/>
                <a:ea typeface="Arial" pitchFamily="34" charset="-122"/>
                <a:cs typeface="Arial" pitchFamily="34" charset="-120"/>
              </a:rPr>
              <a:t>But look closer at the data, and you'll discover specific questions and countries where silence explodes - revealing genuine cultural boundaries.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7690" y="2276475"/>
          <a:ext cx="7528472" cy="2014540"/>
        </p:xfrm>
        <a:graphic>
          <a:graphicData uri="http://schemas.openxmlformats.org/drawingml/2006/table">
            <a:tbl>
              <a:tblPr/>
              <a:tblGrid>
                <a:gridCol w="1882118">
                  <a:extLst>
                    <a:ext uri="{9D8B030D-6E8A-4147-A177-3AD203B41FA5}">
                      <a16:colId xmlns:a16="http://schemas.microsoft.com/office/drawing/2014/main" val="20000"/>
                    </a:ext>
                  </a:extLst>
                </a:gridCol>
                <a:gridCol w="1882118">
                  <a:extLst>
                    <a:ext uri="{9D8B030D-6E8A-4147-A177-3AD203B41FA5}">
                      <a16:colId xmlns:a16="http://schemas.microsoft.com/office/drawing/2014/main" val="20001"/>
                    </a:ext>
                  </a:extLst>
                </a:gridCol>
                <a:gridCol w="1882118">
                  <a:extLst>
                    <a:ext uri="{9D8B030D-6E8A-4147-A177-3AD203B41FA5}">
                      <a16:colId xmlns:a16="http://schemas.microsoft.com/office/drawing/2014/main" val="20002"/>
                    </a:ext>
                  </a:extLst>
                </a:gridCol>
                <a:gridCol w="1882118">
                  <a:extLst>
                    <a:ext uri="{9D8B030D-6E8A-4147-A177-3AD203B41FA5}">
                      <a16:colId xmlns:a16="http://schemas.microsoft.com/office/drawing/2014/main" val="20003"/>
                    </a:ext>
                  </a:extLst>
                </a:gridCol>
              </a:tblGrid>
              <a:tr h="402908">
                <a:tc>
                  <a:txBody>
                    <a:bodyPr/>
                    <a:lstStyle/>
                    <a:p>
                      <a:pPr marL="0" indent="0" algn="l">
                        <a:buNone/>
                      </a:pPr>
                      <a:r>
                        <a:rPr lang="en-US" sz="1140" b="1" dirty="0">
                          <a:solidFill>
                            <a:srgbClr val="38BDF8"/>
                          </a:solidFill>
                          <a:latin typeface="Arial" pitchFamily="34" charset="0"/>
                          <a:ea typeface="Arial" pitchFamily="34" charset="-122"/>
                          <a:cs typeface="Arial" pitchFamily="34" charset="-120"/>
                        </a:rPr>
                        <a:t>Topic</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Western Europe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Eastern Europe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Difference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2908">
                <a:tc>
                  <a:txBody>
                    <a:bodyPr/>
                    <a:lstStyle/>
                    <a:p>
                      <a:pPr marL="0" indent="0">
                        <a:buNone/>
                      </a:pPr>
                      <a:r>
                        <a:rPr lang="en-US" sz="1140" dirty="0">
                          <a:solidFill>
                            <a:srgbClr val="CBD5E1"/>
                          </a:solidFill>
                          <a:latin typeface="Arial" pitchFamily="34" charset="0"/>
                          <a:ea typeface="Arial" pitchFamily="34" charset="-122"/>
                          <a:cs typeface="Arial" pitchFamily="34" charset="-120"/>
                        </a:rPr>
                        <a:t>Gender attitudes</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4.29%</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2.14%</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2.15%</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02908">
                <a:tc>
                  <a:txBody>
                    <a:bodyPr/>
                    <a:lstStyle/>
                    <a:p>
                      <a:pPr marL="0" indent="0">
                        <a:buNone/>
                      </a:pPr>
                      <a:r>
                        <a:rPr lang="en-US" sz="1140" dirty="0">
                          <a:solidFill>
                            <a:srgbClr val="CBD5E1"/>
                          </a:solidFill>
                          <a:latin typeface="Arial" pitchFamily="34" charset="0"/>
                          <a:ea typeface="Arial" pitchFamily="34" charset="-122"/>
                          <a:cs typeface="Arial" pitchFamily="34" charset="-120"/>
                        </a:rPr>
                        <a:t>Women leadership</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4.57%</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1.68%</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2.90%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02908">
                <a:tc>
                  <a:txBody>
                    <a:bodyPr/>
                    <a:lstStyle/>
                    <a:p>
                      <a:pPr marL="0" indent="0">
                        <a:buNone/>
                      </a:pPr>
                      <a:r>
                        <a:rPr lang="en-US" sz="1140" dirty="0">
                          <a:solidFill>
                            <a:srgbClr val="CBD5E1"/>
                          </a:solidFill>
                          <a:latin typeface="Arial" pitchFamily="34" charset="0"/>
                          <a:ea typeface="Arial" pitchFamily="34" charset="-122"/>
                          <a:cs typeface="Arial" pitchFamily="34" charset="-120"/>
                        </a:rPr>
                        <a:t>Parental roles</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2.39%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0.39%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2.00%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402908">
                <a:tc>
                  <a:txBody>
                    <a:bodyPr/>
                    <a:lstStyle/>
                    <a:p>
                      <a:pPr marL="0" indent="0">
                        <a:buNone/>
                      </a:pPr>
                      <a:r>
                        <a:rPr lang="en-US" sz="1140" dirty="0">
                          <a:solidFill>
                            <a:srgbClr val="38BDF8"/>
                          </a:solidFill>
                          <a:latin typeface="Arial" pitchFamily="34" charset="0"/>
                          <a:ea typeface="Arial" pitchFamily="34" charset="-122"/>
                          <a:cs typeface="Arial" pitchFamily="34" charset="-120"/>
                        </a:rPr>
                        <a:t>Work-family balance</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11.73%</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2.49%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EF4444"/>
                          </a:solidFill>
                          <a:latin typeface="Arial" pitchFamily="34" charset="0"/>
                          <a:ea typeface="Arial" pitchFamily="34" charset="-122"/>
                          <a:cs typeface="Arial" pitchFamily="34" charset="-120"/>
                        </a:rPr>
                        <a:t>9.25%</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The Great Divide: West vs East</a:t>
            </a:r>
            <a:endParaRPr lang="en-US" sz="2700" dirty="0"/>
          </a:p>
        </p:txBody>
      </p:sp>
      <p:sp>
        <p:nvSpPr>
          <p:cNvPr id="4" name="Text 1"/>
          <p:cNvSpPr/>
          <p:nvPr/>
        </p:nvSpPr>
        <p:spPr>
          <a:xfrm>
            <a:off x="609600" y="1247775"/>
            <a:ext cx="7924800" cy="8001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Western Europe and Eastern Europe tell starkly different stories about silence on gender issues. Western nations show consistently higher silence across nearly every dimension. Eastern Europe appears more open, more willing to take positions on controversial topics.</a:t>
            </a:r>
            <a:endParaRPr lang="en-US" sz="1350" dirty="0"/>
          </a:p>
        </p:txBody>
      </p:sp>
      <p:sp>
        <p:nvSpPr>
          <p:cNvPr id="5" name="Text 2"/>
          <p:cNvSpPr/>
          <p:nvPr/>
        </p:nvSpPr>
        <p:spPr>
          <a:xfrm>
            <a:off x="530352" y="4519613"/>
            <a:ext cx="8083296" cy="180975"/>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Work-family issues show the largest gap - Western nations are 9+ percentage points more silent.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graphicFrame>
        <p:nvGraphicFramePr>
          <p:cNvPr id="9" name="Table 0"/>
          <p:cNvGraphicFramePr>
            <a:graphicFrameLocks noGrp="1"/>
          </p:cNvGraphicFramePr>
          <p:nvPr>
            <p:extLst>
              <p:ext uri="{D42A27DB-BD31-4B8C-83A1-F6EECF244321}">
                <p14:modId xmlns:p14="http://schemas.microsoft.com/office/powerpoint/2010/main" val="3357070950"/>
              </p:ext>
            </p:extLst>
          </p:nvPr>
        </p:nvGraphicFramePr>
        <p:xfrm>
          <a:off x="807690" y="1247775"/>
          <a:ext cx="7528470" cy="4414839"/>
        </p:xfrm>
        <a:graphic>
          <a:graphicData uri="http://schemas.openxmlformats.org/drawingml/2006/table">
            <a:tbl>
              <a:tblPr/>
              <a:tblGrid>
                <a:gridCol w="2509490">
                  <a:extLst>
                    <a:ext uri="{9D8B030D-6E8A-4147-A177-3AD203B41FA5}">
                      <a16:colId xmlns:a16="http://schemas.microsoft.com/office/drawing/2014/main" val="20000"/>
                    </a:ext>
                  </a:extLst>
                </a:gridCol>
                <a:gridCol w="2509490">
                  <a:extLst>
                    <a:ext uri="{9D8B030D-6E8A-4147-A177-3AD203B41FA5}">
                      <a16:colId xmlns:a16="http://schemas.microsoft.com/office/drawing/2014/main" val="20001"/>
                    </a:ext>
                  </a:extLst>
                </a:gridCol>
                <a:gridCol w="2509490">
                  <a:extLst>
                    <a:ext uri="{9D8B030D-6E8A-4147-A177-3AD203B41FA5}">
                      <a16:colId xmlns:a16="http://schemas.microsoft.com/office/drawing/2014/main" val="20002"/>
                    </a:ext>
                  </a:extLst>
                </a:gridCol>
              </a:tblGrid>
              <a:tr h="401349">
                <a:tc>
                  <a:txBody>
                    <a:bodyPr/>
                    <a:lstStyle/>
                    <a:p>
                      <a:pPr marL="0" indent="0" algn="l">
                        <a:buNone/>
                      </a:pPr>
                      <a:r>
                        <a:rPr lang="en-US" sz="1140" b="1" dirty="0">
                          <a:solidFill>
                            <a:srgbClr val="38BDF8"/>
                          </a:solidFill>
                          <a:latin typeface="Arial" pitchFamily="34" charset="0"/>
                          <a:ea typeface="Arial" pitchFamily="34" charset="-122"/>
                          <a:cs typeface="Arial" pitchFamily="34" charset="-120"/>
                        </a:rPr>
                        <a:t>Country</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Highest Silent Topic</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Silence Rate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1349">
                <a:tc>
                  <a:txBody>
                    <a:bodyPr/>
                    <a:lstStyle/>
                    <a:p>
                      <a:pPr marL="0" indent="0">
                        <a:buNone/>
                      </a:pPr>
                      <a:r>
                        <a:rPr lang="en-US" sz="1140" b="1" dirty="0">
                          <a:solidFill>
                            <a:srgbClr val="CBD5E1"/>
                          </a:solidFill>
                          <a:latin typeface="Arial" pitchFamily="34" charset="0"/>
                          <a:ea typeface="Arial" pitchFamily="34" charset="-122"/>
                          <a:cs typeface="Arial" pitchFamily="34" charset="-120"/>
                        </a:rPr>
                        <a:t>Netherlands</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30.4%</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Germany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24.3%</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Australia</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18.3%</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Japan</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Women leadership</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14.5%</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United States</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14.4%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5"/>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New Zealand</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13.0%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6"/>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Iceland</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12.9%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7"/>
                  </a:ext>
                </a:extLst>
              </a:tr>
              <a:tr h="401349">
                <a:tc>
                  <a:txBody>
                    <a:bodyPr/>
                    <a:lstStyle/>
                    <a:p>
                      <a:pPr marL="0" indent="0">
                        <a:buNone/>
                      </a:pPr>
                      <a:r>
                        <a:rPr lang="en-US" sz="1140" dirty="0">
                          <a:solidFill>
                            <a:srgbClr val="CBD5E1"/>
                          </a:solidFill>
                          <a:latin typeface="Arial" pitchFamily="34" charset="0"/>
                          <a:ea typeface="Arial" pitchFamily="34" charset="-122"/>
                          <a:cs typeface="Arial" pitchFamily="34" charset="-120"/>
                        </a:rPr>
                        <a:t>France</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Work-family</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11.4%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8"/>
                  </a:ext>
                </a:extLst>
              </a:tr>
              <a:tr h="401349">
                <a:tc>
                  <a:txBody>
                    <a:bodyPr/>
                    <a:lstStyle/>
                    <a:p>
                      <a:pPr marL="0" indent="0">
                        <a:buNone/>
                      </a:pP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9"/>
                  </a:ext>
                </a:extLst>
              </a:tr>
              <a:tr h="401349">
                <a:tc>
                  <a:txBody>
                    <a:bodyPr/>
                    <a:lstStyle/>
                    <a:p>
                      <a:pPr marL="0" indent="0">
                        <a:buNone/>
                      </a:pP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Most Silent Countries (Absolute)</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2381250"/>
            <a:ext cx="2488732" cy="1514475"/>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3403678" y="2381250"/>
            <a:ext cx="2488732" cy="1514475"/>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197756" y="2381250"/>
            <a:ext cx="2488732" cy="1514475"/>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Normalized Silence</a:t>
            </a:r>
            <a:endParaRPr lang="en-US" sz="2700" dirty="0"/>
          </a:p>
        </p:txBody>
      </p:sp>
      <p:sp>
        <p:nvSpPr>
          <p:cNvPr id="6" name="Text 4"/>
          <p:cNvSpPr/>
          <p:nvPr/>
        </p:nvSpPr>
        <p:spPr>
          <a:xfrm>
            <a:off x="609600" y="1247775"/>
            <a:ext cx="7924800" cy="8001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When we account for topic difficulty using z-scores, the picture shifts dramatically. Some countries are silent because everyone finds a topic hard. Others show unexpected silence - culturally anomalous patterns that stand out against the global baseline. Japan emerges as the anomaly.</a:t>
            </a:r>
            <a:endParaRPr lang="en-US" sz="1350" dirty="0"/>
          </a:p>
        </p:txBody>
      </p:sp>
      <p:sp>
        <p:nvSpPr>
          <p:cNvPr id="7" name="Text 5"/>
          <p:cNvSpPr/>
          <p:nvPr/>
        </p:nvSpPr>
        <p:spPr>
          <a:xfrm>
            <a:off x="838201" y="2609850"/>
            <a:ext cx="2392054" cy="314325"/>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Arial" pitchFamily="34" charset="0"/>
                <a:ea typeface="Arial" pitchFamily="34" charset="-122"/>
                <a:cs typeface="Arial" pitchFamily="34" charset="-120"/>
              </a:rPr>
              <a:t>Japan</a:t>
            </a:r>
            <a:endParaRPr lang="en-US" sz="2100" dirty="0"/>
          </a:p>
        </p:txBody>
      </p:sp>
      <p:sp>
        <p:nvSpPr>
          <p:cNvPr id="8" name="Text 6"/>
          <p:cNvSpPr/>
          <p:nvPr/>
        </p:nvSpPr>
        <p:spPr>
          <a:xfrm>
            <a:off x="838201" y="3000375"/>
            <a:ext cx="2392054"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New families</a:t>
            </a:r>
            <a:endParaRPr lang="en-US" sz="1320" dirty="0"/>
          </a:p>
        </p:txBody>
      </p:sp>
      <p:sp>
        <p:nvSpPr>
          <p:cNvPr id="9" name="Text 7"/>
          <p:cNvSpPr/>
          <p:nvPr/>
        </p:nvSpPr>
        <p:spPr>
          <a:xfrm>
            <a:off x="838201" y="3228975"/>
            <a:ext cx="2392054" cy="209550"/>
          </a:xfrm>
          <a:prstGeom prst="rect">
            <a:avLst/>
          </a:prstGeom>
          <a:noFill/>
          <a:ln/>
        </p:spPr>
        <p:txBody>
          <a:bodyPr wrap="square" lIns="0" tIns="0" rIns="0" bIns="0" rtlCol="0" anchor="t"/>
          <a:lstStyle/>
          <a:p>
            <a:pPr marL="0" indent="0">
              <a:lnSpc>
                <a:spcPts val="1680"/>
              </a:lnSpc>
              <a:buNone/>
            </a:pPr>
            <a:r>
              <a:rPr lang="en-US" sz="1200" dirty="0">
                <a:solidFill>
                  <a:srgbClr val="CBD5E1"/>
                </a:solidFill>
                <a:latin typeface="Arial" pitchFamily="34" charset="0"/>
                <a:ea typeface="Arial" pitchFamily="34" charset="-122"/>
                <a:cs typeface="Arial" pitchFamily="34" charset="-120"/>
              </a:rPr>
              <a:t>Z-score: </a:t>
            </a:r>
            <a:r>
              <a:rPr lang="en-US" sz="1200" b="1" dirty="0">
                <a:solidFill>
                  <a:srgbClr val="38BDF8"/>
                </a:solidFill>
                <a:latin typeface="Arial" pitchFamily="34" charset="0"/>
                <a:ea typeface="Arial" pitchFamily="34" charset="-122"/>
                <a:cs typeface="Arial" pitchFamily="34" charset="-120"/>
              </a:rPr>
              <a:t>4.23</a:t>
            </a:r>
            <a:endParaRPr lang="en-US" sz="1200" dirty="0"/>
          </a:p>
        </p:txBody>
      </p:sp>
      <p:sp>
        <p:nvSpPr>
          <p:cNvPr id="10" name="Text 8"/>
          <p:cNvSpPr/>
          <p:nvPr/>
        </p:nvSpPr>
        <p:spPr>
          <a:xfrm>
            <a:off x="838201" y="3514725"/>
            <a:ext cx="2392054" cy="152400"/>
          </a:xfrm>
          <a:prstGeom prst="rect">
            <a:avLst/>
          </a:prstGeom>
          <a:noFill/>
          <a:ln/>
        </p:spPr>
        <p:txBody>
          <a:bodyPr wrap="square" lIns="0" tIns="0" rIns="0" bIns="0" rtlCol="0" anchor="t"/>
          <a:lstStyle/>
          <a:p>
            <a:pPr marL="0" indent="0">
              <a:lnSpc>
                <a:spcPts val="1260"/>
              </a:lnSpc>
              <a:buNone/>
            </a:pPr>
            <a:r>
              <a:rPr lang="en-US" sz="900" dirty="0">
                <a:solidFill>
                  <a:srgbClr val="94A3B8"/>
                </a:solidFill>
                <a:latin typeface="Arial" pitchFamily="34" charset="0"/>
                <a:ea typeface="Arial" pitchFamily="34" charset="-122"/>
                <a:cs typeface="Arial" pitchFamily="34" charset="-120"/>
              </a:rPr>
              <a:t>Most anomalous globally</a:t>
            </a:r>
            <a:endParaRPr lang="en-US" sz="900" dirty="0"/>
          </a:p>
        </p:txBody>
      </p:sp>
      <p:sp>
        <p:nvSpPr>
          <p:cNvPr id="11" name="Text 9"/>
          <p:cNvSpPr/>
          <p:nvPr/>
        </p:nvSpPr>
        <p:spPr>
          <a:xfrm>
            <a:off x="3632279" y="2609850"/>
            <a:ext cx="2392054" cy="314325"/>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Arial" pitchFamily="34" charset="0"/>
                <a:ea typeface="Arial" pitchFamily="34" charset="-122"/>
                <a:cs typeface="Arial" pitchFamily="34" charset="-120"/>
              </a:rPr>
              <a:t>Iceland</a:t>
            </a:r>
            <a:endParaRPr lang="en-US" sz="2100" dirty="0"/>
          </a:p>
        </p:txBody>
      </p:sp>
      <p:sp>
        <p:nvSpPr>
          <p:cNvPr id="12" name="Text 10"/>
          <p:cNvSpPr/>
          <p:nvPr/>
        </p:nvSpPr>
        <p:spPr>
          <a:xfrm>
            <a:off x="3632279" y="3000375"/>
            <a:ext cx="2392054"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Wellbeing</a:t>
            </a:r>
            <a:endParaRPr lang="en-US" sz="1320" dirty="0"/>
          </a:p>
        </p:txBody>
      </p:sp>
      <p:sp>
        <p:nvSpPr>
          <p:cNvPr id="13" name="Text 11"/>
          <p:cNvSpPr/>
          <p:nvPr/>
        </p:nvSpPr>
        <p:spPr>
          <a:xfrm>
            <a:off x="3632279" y="3228975"/>
            <a:ext cx="2392054" cy="209550"/>
          </a:xfrm>
          <a:prstGeom prst="rect">
            <a:avLst/>
          </a:prstGeom>
          <a:noFill/>
          <a:ln/>
        </p:spPr>
        <p:txBody>
          <a:bodyPr wrap="square" lIns="0" tIns="0" rIns="0" bIns="0" rtlCol="0" anchor="t"/>
          <a:lstStyle/>
          <a:p>
            <a:pPr marL="0" indent="0">
              <a:lnSpc>
                <a:spcPts val="1680"/>
              </a:lnSpc>
              <a:buNone/>
            </a:pPr>
            <a:r>
              <a:rPr lang="en-US" sz="1200" dirty="0">
                <a:solidFill>
                  <a:srgbClr val="CBD5E1"/>
                </a:solidFill>
                <a:latin typeface="Arial" pitchFamily="34" charset="0"/>
                <a:ea typeface="Arial" pitchFamily="34" charset="-122"/>
                <a:cs typeface="Arial" pitchFamily="34" charset="-120"/>
              </a:rPr>
              <a:t>Z-score: </a:t>
            </a:r>
            <a:r>
              <a:rPr lang="en-US" sz="1200" b="1" dirty="0">
                <a:solidFill>
                  <a:srgbClr val="38BDF8"/>
                </a:solidFill>
                <a:latin typeface="Arial" pitchFamily="34" charset="0"/>
                <a:ea typeface="Arial" pitchFamily="34" charset="-122"/>
                <a:cs typeface="Arial" pitchFamily="34" charset="-120"/>
              </a:rPr>
              <a:t>3.68</a:t>
            </a:r>
            <a:endParaRPr lang="en-US" sz="1200" dirty="0"/>
          </a:p>
        </p:txBody>
      </p:sp>
      <p:sp>
        <p:nvSpPr>
          <p:cNvPr id="14" name="Text 12"/>
          <p:cNvSpPr/>
          <p:nvPr/>
        </p:nvSpPr>
        <p:spPr>
          <a:xfrm>
            <a:off x="3632279" y="3514725"/>
            <a:ext cx="2392054" cy="152400"/>
          </a:xfrm>
          <a:prstGeom prst="rect">
            <a:avLst/>
          </a:prstGeom>
          <a:noFill/>
          <a:ln/>
        </p:spPr>
        <p:txBody>
          <a:bodyPr wrap="square" lIns="0" tIns="0" rIns="0" bIns="0" rtlCol="0" anchor="t"/>
          <a:lstStyle/>
          <a:p>
            <a:pPr marL="0" indent="0">
              <a:lnSpc>
                <a:spcPts val="1260"/>
              </a:lnSpc>
              <a:buNone/>
            </a:pPr>
            <a:r>
              <a:rPr lang="en-US" sz="900" dirty="0">
                <a:solidFill>
                  <a:srgbClr val="94A3B8"/>
                </a:solidFill>
                <a:latin typeface="Arial" pitchFamily="34" charset="0"/>
                <a:ea typeface="Arial" pitchFamily="34" charset="-122"/>
                <a:cs typeface="Arial" pitchFamily="34" charset="-120"/>
              </a:rPr>
              <a:t>Nordic outlier</a:t>
            </a:r>
            <a:endParaRPr lang="en-US" sz="900" dirty="0"/>
          </a:p>
        </p:txBody>
      </p:sp>
      <p:sp>
        <p:nvSpPr>
          <p:cNvPr id="15" name="Text 13"/>
          <p:cNvSpPr/>
          <p:nvPr/>
        </p:nvSpPr>
        <p:spPr>
          <a:xfrm>
            <a:off x="6426357" y="2609850"/>
            <a:ext cx="2392054" cy="314325"/>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Arial" pitchFamily="34" charset="0"/>
                <a:ea typeface="Arial" pitchFamily="34" charset="-122"/>
                <a:cs typeface="Arial" pitchFamily="34" charset="-120"/>
              </a:rPr>
              <a:t>Netherlands</a:t>
            </a:r>
            <a:endParaRPr lang="en-US" sz="2100" dirty="0"/>
          </a:p>
        </p:txBody>
      </p:sp>
      <p:sp>
        <p:nvSpPr>
          <p:cNvPr id="16" name="Text 14"/>
          <p:cNvSpPr/>
          <p:nvPr/>
        </p:nvSpPr>
        <p:spPr>
          <a:xfrm>
            <a:off x="6426357" y="3000375"/>
            <a:ext cx="2392054"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Work-family</a:t>
            </a:r>
            <a:endParaRPr lang="en-US" sz="1320" dirty="0"/>
          </a:p>
        </p:txBody>
      </p:sp>
      <p:sp>
        <p:nvSpPr>
          <p:cNvPr id="17" name="Text 15"/>
          <p:cNvSpPr/>
          <p:nvPr/>
        </p:nvSpPr>
        <p:spPr>
          <a:xfrm>
            <a:off x="6426357" y="3228975"/>
            <a:ext cx="2392054" cy="209550"/>
          </a:xfrm>
          <a:prstGeom prst="rect">
            <a:avLst/>
          </a:prstGeom>
          <a:noFill/>
          <a:ln/>
        </p:spPr>
        <p:txBody>
          <a:bodyPr wrap="square" lIns="0" tIns="0" rIns="0" bIns="0" rtlCol="0" anchor="t"/>
          <a:lstStyle/>
          <a:p>
            <a:pPr marL="0" indent="0">
              <a:lnSpc>
                <a:spcPts val="1680"/>
              </a:lnSpc>
              <a:buNone/>
            </a:pPr>
            <a:r>
              <a:rPr lang="en-US" sz="1200" dirty="0">
                <a:solidFill>
                  <a:srgbClr val="CBD5E1"/>
                </a:solidFill>
                <a:latin typeface="Arial" pitchFamily="34" charset="0"/>
                <a:ea typeface="Arial" pitchFamily="34" charset="-122"/>
                <a:cs typeface="Arial" pitchFamily="34" charset="-120"/>
              </a:rPr>
              <a:t>Z-score: </a:t>
            </a:r>
            <a:r>
              <a:rPr lang="en-US" sz="1200" b="1" dirty="0">
                <a:solidFill>
                  <a:srgbClr val="38BDF8"/>
                </a:solidFill>
                <a:latin typeface="Arial" pitchFamily="34" charset="0"/>
                <a:ea typeface="Arial" pitchFamily="34" charset="-122"/>
                <a:cs typeface="Arial" pitchFamily="34" charset="-120"/>
              </a:rPr>
              <a:t>3.24</a:t>
            </a:r>
            <a:endParaRPr lang="en-US" sz="1200" dirty="0"/>
          </a:p>
        </p:txBody>
      </p:sp>
      <p:sp>
        <p:nvSpPr>
          <p:cNvPr id="18" name="Text 16"/>
          <p:cNvSpPr/>
          <p:nvPr/>
        </p:nvSpPr>
        <p:spPr>
          <a:xfrm>
            <a:off x="6426357" y="3514725"/>
            <a:ext cx="2392054" cy="152400"/>
          </a:xfrm>
          <a:prstGeom prst="rect">
            <a:avLst/>
          </a:prstGeom>
          <a:noFill/>
          <a:ln/>
        </p:spPr>
        <p:txBody>
          <a:bodyPr wrap="square" lIns="0" tIns="0" rIns="0" bIns="0" rtlCol="0" anchor="t"/>
          <a:lstStyle/>
          <a:p>
            <a:pPr marL="0" indent="0">
              <a:lnSpc>
                <a:spcPts val="1260"/>
              </a:lnSpc>
              <a:buNone/>
            </a:pPr>
            <a:r>
              <a:rPr lang="en-US" sz="900" dirty="0">
                <a:solidFill>
                  <a:srgbClr val="94A3B8"/>
                </a:solidFill>
                <a:latin typeface="Arial" pitchFamily="34" charset="0"/>
                <a:ea typeface="Arial" pitchFamily="34" charset="-122"/>
                <a:cs typeface="Arial" pitchFamily="34" charset="-120"/>
              </a:rPr>
              <a:t>Expected difficulty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graphicFrame>
        <p:nvGraphicFramePr>
          <p:cNvPr id="11" name="Table 0"/>
          <p:cNvGraphicFramePr>
            <a:graphicFrameLocks noGrp="1"/>
          </p:cNvGraphicFramePr>
          <p:nvPr>
            <p:extLst>
              <p:ext uri="{D42A27DB-BD31-4B8C-83A1-F6EECF244321}">
                <p14:modId xmlns:p14="http://schemas.microsoft.com/office/powerpoint/2010/main" val="1063728448"/>
              </p:ext>
            </p:extLst>
          </p:nvPr>
        </p:nvGraphicFramePr>
        <p:xfrm>
          <a:off x="1005855" y="2463147"/>
          <a:ext cx="7132290" cy="1245362"/>
        </p:xfrm>
        <a:graphic>
          <a:graphicData uri="http://schemas.openxmlformats.org/drawingml/2006/table">
            <a:tbl>
              <a:tblPr/>
              <a:tblGrid>
                <a:gridCol w="1426458">
                  <a:extLst>
                    <a:ext uri="{9D8B030D-6E8A-4147-A177-3AD203B41FA5}">
                      <a16:colId xmlns:a16="http://schemas.microsoft.com/office/drawing/2014/main" val="20000"/>
                    </a:ext>
                  </a:extLst>
                </a:gridCol>
                <a:gridCol w="1426458">
                  <a:extLst>
                    <a:ext uri="{9D8B030D-6E8A-4147-A177-3AD203B41FA5}">
                      <a16:colId xmlns:a16="http://schemas.microsoft.com/office/drawing/2014/main" val="20001"/>
                    </a:ext>
                  </a:extLst>
                </a:gridCol>
                <a:gridCol w="1426458">
                  <a:extLst>
                    <a:ext uri="{9D8B030D-6E8A-4147-A177-3AD203B41FA5}">
                      <a16:colId xmlns:a16="http://schemas.microsoft.com/office/drawing/2014/main" val="20002"/>
                    </a:ext>
                  </a:extLst>
                </a:gridCol>
                <a:gridCol w="1426458">
                  <a:extLst>
                    <a:ext uri="{9D8B030D-6E8A-4147-A177-3AD203B41FA5}">
                      <a16:colId xmlns:a16="http://schemas.microsoft.com/office/drawing/2014/main" val="20003"/>
                    </a:ext>
                  </a:extLst>
                </a:gridCol>
                <a:gridCol w="1426458">
                  <a:extLst>
                    <a:ext uri="{9D8B030D-6E8A-4147-A177-3AD203B41FA5}">
                      <a16:colId xmlns:a16="http://schemas.microsoft.com/office/drawing/2014/main" val="20004"/>
                    </a:ext>
                  </a:extLst>
                </a:gridCol>
              </a:tblGrid>
              <a:tr h="403225">
                <a:tc>
                  <a:txBody>
                    <a:bodyPr/>
                    <a:lstStyle/>
                    <a:p>
                      <a:pPr marL="0" indent="0" algn="l">
                        <a:buNone/>
                      </a:pPr>
                      <a:r>
                        <a:rPr lang="en-US" sz="1140" b="1" dirty="0">
                          <a:solidFill>
                            <a:srgbClr val="38BDF8"/>
                          </a:solidFill>
                          <a:latin typeface="Arial" pitchFamily="34" charset="0"/>
                          <a:ea typeface="Arial" pitchFamily="34" charset="-122"/>
                          <a:cs typeface="Arial" pitchFamily="34" charset="-120"/>
                        </a:rPr>
                        <a:t>Gender</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N</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Leadership Context</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Control Context</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Taboo Gap</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3225">
                <a:tc>
                  <a:txBody>
                    <a:bodyPr/>
                    <a:lstStyle/>
                    <a:p>
                      <a:pPr marL="0" indent="0">
                        <a:buNone/>
                      </a:pPr>
                      <a:r>
                        <a:rPr lang="en-US" sz="1140" b="1" dirty="0">
                          <a:solidFill>
                            <a:srgbClr val="CBD5E1"/>
                          </a:solidFill>
                          <a:latin typeface="Arial" pitchFamily="34" charset="0"/>
                          <a:ea typeface="Arial" pitchFamily="34" charset="-122"/>
                          <a:cs typeface="Arial" pitchFamily="34" charset="-120"/>
                        </a:rPr>
                        <a:t>Male</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664</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13.81%</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5.87%</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7.93%</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03225">
                <a:tc>
                  <a:txBody>
                    <a:bodyPr/>
                    <a:lstStyle/>
                    <a:p>
                      <a:pPr marL="0" indent="0">
                        <a:buNone/>
                      </a:pPr>
                      <a:r>
                        <a:rPr lang="en-US" sz="1140" b="1" dirty="0">
                          <a:solidFill>
                            <a:srgbClr val="CBD5E1"/>
                          </a:solidFill>
                          <a:latin typeface="Arial" pitchFamily="34" charset="0"/>
                          <a:ea typeface="Arial" pitchFamily="34" charset="-122"/>
                          <a:cs typeface="Arial" pitchFamily="34" charset="-120"/>
                        </a:rPr>
                        <a:t>Female</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762</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15.14%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5.34%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EF4444"/>
                          </a:solidFill>
                          <a:latin typeface="Arial" pitchFamily="34" charset="0"/>
                          <a:ea typeface="Arial" pitchFamily="34" charset="-122"/>
                          <a:cs typeface="Arial" pitchFamily="34" charset="-120"/>
                        </a:rPr>
                        <a:t>9.80%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Do Men and Women Differ?</a:t>
            </a:r>
            <a:endParaRPr lang="en-US" sz="2700" dirty="0"/>
          </a:p>
        </p:txBody>
      </p:sp>
      <p:sp>
        <p:nvSpPr>
          <p:cNvPr id="4" name="Text 1"/>
          <p:cNvSpPr/>
          <p:nvPr/>
        </p:nvSpPr>
        <p:spPr>
          <a:xfrm>
            <a:off x="609599" y="1247775"/>
            <a:ext cx="8140639" cy="10668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Gender creates measurable differences in how people respond to questions about leadership versus household control. Women show a larger "Taboo Gap" - meaning they are significantly more hesitant to express views when the question involves leadership authority, compared to household decision-making.</a:t>
            </a:r>
            <a:endParaRPr lang="en-US" sz="1350" dirty="0"/>
          </a:p>
        </p:txBody>
      </p:sp>
      <p:sp>
        <p:nvSpPr>
          <p:cNvPr id="5" name="Text 2"/>
          <p:cNvSpPr/>
          <p:nvPr/>
        </p:nvSpPr>
        <p:spPr>
          <a:xfrm>
            <a:off x="2146168" y="4093337"/>
            <a:ext cx="4490301" cy="476250"/>
          </a:xfrm>
          <a:prstGeom prst="rect">
            <a:avLst/>
          </a:prstGeom>
          <a:noFill/>
          <a:ln/>
        </p:spPr>
        <p:txBody>
          <a:bodyPr wrap="square" lIns="0" tIns="0" rIns="0" bIns="0" rtlCol="0" anchor="t"/>
          <a:lstStyle/>
          <a:p>
            <a:pPr marL="0" indent="0" algn="ctr">
              <a:lnSpc>
                <a:spcPts val="1890"/>
              </a:lnSpc>
              <a:buNone/>
            </a:pPr>
            <a:r>
              <a:rPr lang="en-US" sz="1350" dirty="0">
                <a:solidFill>
                  <a:srgbClr val="CBD5E1"/>
                </a:solidFill>
                <a:latin typeface="Arial" pitchFamily="34" charset="0"/>
                <a:ea typeface="Arial" pitchFamily="34" charset="-122"/>
                <a:cs typeface="Arial" pitchFamily="34" charset="-120"/>
              </a:rPr>
              <a:t>Women's larger gap suggests they experience greater pressure when family roles involve power and authority.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graphicFrame>
        <p:nvGraphicFramePr>
          <p:cNvPr id="12" name="Table 0"/>
          <p:cNvGraphicFramePr>
            <a:graphicFrameLocks noGrp="1"/>
          </p:cNvGraphicFramePr>
          <p:nvPr>
            <p:extLst>
              <p:ext uri="{D42A27DB-BD31-4B8C-83A1-F6EECF244321}">
                <p14:modId xmlns:p14="http://schemas.microsoft.com/office/powerpoint/2010/main" val="996036668"/>
              </p:ext>
            </p:extLst>
          </p:nvPr>
        </p:nvGraphicFramePr>
        <p:xfrm>
          <a:off x="807690" y="2261116"/>
          <a:ext cx="7528470" cy="1962150"/>
        </p:xfrm>
        <a:graphic>
          <a:graphicData uri="http://schemas.openxmlformats.org/drawingml/2006/table">
            <a:tbl>
              <a:tblPr/>
              <a:tblGrid>
                <a:gridCol w="1505694">
                  <a:extLst>
                    <a:ext uri="{9D8B030D-6E8A-4147-A177-3AD203B41FA5}">
                      <a16:colId xmlns:a16="http://schemas.microsoft.com/office/drawing/2014/main" val="20000"/>
                    </a:ext>
                  </a:extLst>
                </a:gridCol>
                <a:gridCol w="1505694">
                  <a:extLst>
                    <a:ext uri="{9D8B030D-6E8A-4147-A177-3AD203B41FA5}">
                      <a16:colId xmlns:a16="http://schemas.microsoft.com/office/drawing/2014/main" val="20001"/>
                    </a:ext>
                  </a:extLst>
                </a:gridCol>
                <a:gridCol w="1505694">
                  <a:extLst>
                    <a:ext uri="{9D8B030D-6E8A-4147-A177-3AD203B41FA5}">
                      <a16:colId xmlns:a16="http://schemas.microsoft.com/office/drawing/2014/main" val="20002"/>
                    </a:ext>
                  </a:extLst>
                </a:gridCol>
                <a:gridCol w="1505694">
                  <a:extLst>
                    <a:ext uri="{9D8B030D-6E8A-4147-A177-3AD203B41FA5}">
                      <a16:colId xmlns:a16="http://schemas.microsoft.com/office/drawing/2014/main" val="20003"/>
                    </a:ext>
                  </a:extLst>
                </a:gridCol>
                <a:gridCol w="1505694">
                  <a:extLst>
                    <a:ext uri="{9D8B030D-6E8A-4147-A177-3AD203B41FA5}">
                      <a16:colId xmlns:a16="http://schemas.microsoft.com/office/drawing/2014/main" val="20004"/>
                    </a:ext>
                  </a:extLst>
                </a:gridCol>
              </a:tblGrid>
              <a:tr h="392430">
                <a:tc>
                  <a:txBody>
                    <a:bodyPr/>
                    <a:lstStyle/>
                    <a:p>
                      <a:pPr marL="0" indent="0" algn="l">
                        <a:buNone/>
                      </a:pPr>
                      <a:r>
                        <a:rPr lang="en-US" sz="1104" b="1" dirty="0">
                          <a:solidFill>
                            <a:srgbClr val="38BDF8"/>
                          </a:solidFill>
                          <a:latin typeface="Arial" pitchFamily="34" charset="0"/>
                          <a:ea typeface="Arial" pitchFamily="34" charset="-122"/>
                          <a:cs typeface="Arial" pitchFamily="34" charset="-120"/>
                        </a:rPr>
                        <a:t>Group</a:t>
                      </a:r>
                      <a:endParaRPr lang="en-US" sz="1104"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04" b="1" dirty="0">
                          <a:solidFill>
                            <a:srgbClr val="38BDF8"/>
                          </a:solidFill>
                          <a:latin typeface="Arial" pitchFamily="34" charset="0"/>
                          <a:ea typeface="Arial" pitchFamily="34" charset="-122"/>
                          <a:cs typeface="Arial" pitchFamily="34" charset="-120"/>
                        </a:rPr>
                        <a:t>N</a:t>
                      </a:r>
                      <a:endParaRPr lang="en-US" sz="1104"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04" b="1" dirty="0">
                          <a:solidFill>
                            <a:srgbClr val="38BDF8"/>
                          </a:solidFill>
                          <a:latin typeface="Arial" pitchFamily="34" charset="0"/>
                          <a:ea typeface="Arial" pitchFamily="34" charset="-122"/>
                          <a:cs typeface="Arial" pitchFamily="34" charset="-120"/>
                        </a:rPr>
                        <a:t>Leadership</a:t>
                      </a:r>
                      <a:endParaRPr lang="en-US" sz="1104"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04" b="1" dirty="0">
                          <a:solidFill>
                            <a:srgbClr val="38BDF8"/>
                          </a:solidFill>
                          <a:latin typeface="Arial" pitchFamily="34" charset="0"/>
                          <a:ea typeface="Arial" pitchFamily="34" charset="-122"/>
                          <a:cs typeface="Arial" pitchFamily="34" charset="-120"/>
                        </a:rPr>
                        <a:t>Control</a:t>
                      </a:r>
                      <a:endParaRPr lang="en-US" sz="1104"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04" b="1" dirty="0">
                          <a:solidFill>
                            <a:srgbClr val="38BDF8"/>
                          </a:solidFill>
                          <a:latin typeface="Arial" pitchFamily="34" charset="0"/>
                          <a:ea typeface="Arial" pitchFamily="34" charset="-122"/>
                          <a:cs typeface="Arial" pitchFamily="34" charset="-120"/>
                        </a:rPr>
                        <a:t>Taboo Gap</a:t>
                      </a:r>
                      <a:endParaRPr lang="en-US" sz="1104"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92430">
                <a:tc>
                  <a:txBody>
                    <a:bodyPr/>
                    <a:lstStyle/>
                    <a:p>
                      <a:pPr marL="0" indent="0">
                        <a:buNone/>
                      </a:pPr>
                      <a:r>
                        <a:rPr lang="en-US" sz="1104" dirty="0">
                          <a:solidFill>
                            <a:srgbClr val="CBD5E1"/>
                          </a:solidFill>
                          <a:latin typeface="Arial" pitchFamily="34" charset="0"/>
                          <a:ea typeface="Arial" pitchFamily="34" charset="-122"/>
                          <a:cs typeface="Arial" pitchFamily="34" charset="-120"/>
                        </a:rPr>
                        <a:t>Male 18-35</a:t>
                      </a:r>
                      <a:endParaRPr lang="en-US" sz="1104"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93</a:t>
                      </a:r>
                      <a:endParaRPr lang="en-US" sz="1104"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15.41%</a:t>
                      </a:r>
                      <a:endParaRPr lang="en-US" sz="1104"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8.24%</a:t>
                      </a:r>
                      <a:endParaRPr lang="en-US" sz="1104"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7.17%</a:t>
                      </a:r>
                      <a:endParaRPr lang="en-US" sz="1104"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392430">
                <a:tc>
                  <a:txBody>
                    <a:bodyPr/>
                    <a:lstStyle/>
                    <a:p>
                      <a:pPr marL="0" indent="0">
                        <a:buNone/>
                      </a:pPr>
                      <a:r>
                        <a:rPr lang="en-US" sz="1104" dirty="0">
                          <a:solidFill>
                            <a:srgbClr val="CBD5E1"/>
                          </a:solidFill>
                          <a:latin typeface="Arial" pitchFamily="34" charset="0"/>
                          <a:ea typeface="Arial" pitchFamily="34" charset="-122"/>
                          <a:cs typeface="Arial" pitchFamily="34" charset="-120"/>
                        </a:rPr>
                        <a:t>Female 18-35</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130</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14.62%</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5.13%</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b="1" dirty="0">
                          <a:solidFill>
                            <a:srgbClr val="38BDF8"/>
                          </a:solidFill>
                          <a:latin typeface="Arial" pitchFamily="34" charset="0"/>
                          <a:ea typeface="Arial" pitchFamily="34" charset="-122"/>
                          <a:cs typeface="Arial" pitchFamily="34" charset="-120"/>
                        </a:rPr>
                        <a:t>9.49%</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392430">
                <a:tc>
                  <a:txBody>
                    <a:bodyPr/>
                    <a:lstStyle/>
                    <a:p>
                      <a:pPr marL="0" indent="0">
                        <a:buNone/>
                      </a:pPr>
                      <a:r>
                        <a:rPr lang="en-US" sz="1104" dirty="0">
                          <a:solidFill>
                            <a:srgbClr val="CBD5E1"/>
                          </a:solidFill>
                          <a:latin typeface="Arial" pitchFamily="34" charset="0"/>
                          <a:ea typeface="Arial" pitchFamily="34" charset="-122"/>
                          <a:cs typeface="Arial" pitchFamily="34" charset="-120"/>
                        </a:rPr>
                        <a:t>Male 55+</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345</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15.85%</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6.86%</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8.99%</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392430">
                <a:tc>
                  <a:txBody>
                    <a:bodyPr/>
                    <a:lstStyle/>
                    <a:p>
                      <a:pPr marL="0" indent="0">
                        <a:buNone/>
                      </a:pPr>
                      <a:r>
                        <a:rPr lang="en-US" sz="1104" dirty="0">
                          <a:solidFill>
                            <a:srgbClr val="CBD5E1"/>
                          </a:solidFill>
                          <a:latin typeface="Arial" pitchFamily="34" charset="0"/>
                          <a:ea typeface="Arial" pitchFamily="34" charset="-122"/>
                          <a:cs typeface="Arial" pitchFamily="34" charset="-120"/>
                        </a:rPr>
                        <a:t>Female 55+</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391</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15.77%</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dirty="0">
                          <a:solidFill>
                            <a:srgbClr val="CBD5E1"/>
                          </a:solidFill>
                          <a:latin typeface="Arial" pitchFamily="34" charset="0"/>
                          <a:ea typeface="Arial" pitchFamily="34" charset="-122"/>
                          <a:cs typeface="Arial" pitchFamily="34" charset="-120"/>
                        </a:rPr>
                        <a:t>5.97%</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04" b="1" dirty="0">
                          <a:solidFill>
                            <a:srgbClr val="38BDF8"/>
                          </a:solidFill>
                          <a:latin typeface="Arial" pitchFamily="34" charset="0"/>
                          <a:ea typeface="Arial" pitchFamily="34" charset="-122"/>
                          <a:cs typeface="Arial" pitchFamily="34" charset="-120"/>
                        </a:rPr>
                        <a:t>9.80%</a:t>
                      </a:r>
                      <a:endParaRPr lang="en-US" sz="1104"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609600" y="937141"/>
            <a:ext cx="7924800" cy="10668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Breaking down responses by both age and gender reveals that the gender effect persists across age groups. Women consistently show larger taboo gaps regardless of age. Younger respondents (18-35) show slightly different absolute silence rates than older groups (55+), but the pattern remains: women's taboo gap is consistently larger.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005780" y="2543175"/>
          <a:ext cx="7132290" cy="1614488"/>
        </p:xfrm>
        <a:graphic>
          <a:graphicData uri="http://schemas.openxmlformats.org/drawingml/2006/table">
            <a:tbl>
              <a:tblPr/>
              <a:tblGrid>
                <a:gridCol w="1426458">
                  <a:extLst>
                    <a:ext uri="{9D8B030D-6E8A-4147-A177-3AD203B41FA5}">
                      <a16:colId xmlns:a16="http://schemas.microsoft.com/office/drawing/2014/main" val="20000"/>
                    </a:ext>
                  </a:extLst>
                </a:gridCol>
                <a:gridCol w="1426458">
                  <a:extLst>
                    <a:ext uri="{9D8B030D-6E8A-4147-A177-3AD203B41FA5}">
                      <a16:colId xmlns:a16="http://schemas.microsoft.com/office/drawing/2014/main" val="20001"/>
                    </a:ext>
                  </a:extLst>
                </a:gridCol>
                <a:gridCol w="1426458">
                  <a:extLst>
                    <a:ext uri="{9D8B030D-6E8A-4147-A177-3AD203B41FA5}">
                      <a16:colId xmlns:a16="http://schemas.microsoft.com/office/drawing/2014/main" val="20002"/>
                    </a:ext>
                  </a:extLst>
                </a:gridCol>
                <a:gridCol w="1426458">
                  <a:extLst>
                    <a:ext uri="{9D8B030D-6E8A-4147-A177-3AD203B41FA5}">
                      <a16:colId xmlns:a16="http://schemas.microsoft.com/office/drawing/2014/main" val="20003"/>
                    </a:ext>
                  </a:extLst>
                </a:gridCol>
                <a:gridCol w="1426458">
                  <a:extLst>
                    <a:ext uri="{9D8B030D-6E8A-4147-A177-3AD203B41FA5}">
                      <a16:colId xmlns:a16="http://schemas.microsoft.com/office/drawing/2014/main" val="20004"/>
                    </a:ext>
                  </a:extLst>
                </a:gridCol>
              </a:tblGrid>
              <a:tr h="403622">
                <a:tc>
                  <a:txBody>
                    <a:bodyPr/>
                    <a:lstStyle/>
                    <a:p>
                      <a:pPr marL="0" indent="0" algn="l">
                        <a:buNone/>
                      </a:pPr>
                      <a:r>
                        <a:rPr lang="en-US" sz="1140" b="1" dirty="0">
                          <a:solidFill>
                            <a:srgbClr val="38BDF8"/>
                          </a:solidFill>
                          <a:latin typeface="Arial" pitchFamily="34" charset="0"/>
                          <a:ea typeface="Arial" pitchFamily="34" charset="-122"/>
                          <a:cs typeface="Arial" pitchFamily="34" charset="-120"/>
                        </a:rPr>
                        <a:t>Region</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N</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Wellbeing Silence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Control Silence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Taboo Gap</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3622">
                <a:tc>
                  <a:txBody>
                    <a:bodyPr/>
                    <a:lstStyle/>
                    <a:p>
                      <a:pPr marL="0" indent="0">
                        <a:buNone/>
                      </a:pPr>
                      <a:r>
                        <a:rPr lang="en-US" sz="1140" b="1" dirty="0">
                          <a:solidFill>
                            <a:srgbClr val="CBD5E1"/>
                          </a:solidFill>
                          <a:latin typeface="Arial" pitchFamily="34" charset="0"/>
                          <a:ea typeface="Arial" pitchFamily="34" charset="-122"/>
                          <a:cs typeface="Arial" pitchFamily="34" charset="-120"/>
                        </a:rPr>
                        <a:t>Iceland</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1,220</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EF4444"/>
                          </a:solidFill>
                          <a:latin typeface="Arial" pitchFamily="34" charset="0"/>
                          <a:ea typeface="Arial" pitchFamily="34" charset="-122"/>
                          <a:cs typeface="Arial" pitchFamily="34" charset="-120"/>
                        </a:rPr>
                        <a:t>8.91%</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1.34%</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7.57%</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403622">
                <a:tc>
                  <a:txBody>
                    <a:bodyPr/>
                    <a:lstStyle/>
                    <a:p>
                      <a:pPr marL="0" indent="0">
                        <a:buNone/>
                      </a:pPr>
                      <a:r>
                        <a:rPr lang="en-US" sz="1140" dirty="0">
                          <a:solidFill>
                            <a:srgbClr val="CBD5E1"/>
                          </a:solidFill>
                          <a:latin typeface="Arial" pitchFamily="34" charset="0"/>
                          <a:ea typeface="Arial" pitchFamily="34" charset="-122"/>
                          <a:cs typeface="Arial" pitchFamily="34" charset="-120"/>
                        </a:rPr>
                        <a:t>Other Nordics</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5,487</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2.68%</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3.19%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-0.51%</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03622">
                <a:tc>
                  <a:txBody>
                    <a:bodyPr/>
                    <a:lstStyle/>
                    <a:p>
                      <a:pPr marL="0" indent="0">
                        <a:buNone/>
                      </a:pPr>
                      <a:r>
                        <a:rPr lang="en-US" sz="1140" dirty="0">
                          <a:solidFill>
                            <a:srgbClr val="CBD5E1"/>
                          </a:solidFill>
                          <a:latin typeface="Arial" pitchFamily="34" charset="0"/>
                          <a:ea typeface="Arial" pitchFamily="34" charset="-122"/>
                          <a:cs typeface="Arial" pitchFamily="34" charset="-120"/>
                        </a:rPr>
                        <a:t>Rest of World</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39,055</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1.93%</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1.96%</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-0.03%</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The Iceland Anomaly</a:t>
            </a:r>
            <a:endParaRPr lang="en-US" sz="2700" dirty="0"/>
          </a:p>
        </p:txBody>
      </p:sp>
      <p:sp>
        <p:nvSpPr>
          <p:cNvPr id="4" name="Text 1"/>
          <p:cNvSpPr/>
          <p:nvPr/>
        </p:nvSpPr>
        <p:spPr>
          <a:xfrm>
            <a:off x="609600" y="1247775"/>
            <a:ext cx="7924800" cy="10668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Iceland stands as a striking regional outlier. Despite being one of the world's most gender-equal nations, Icelanders show unexpectedly high silence on wellbeing topics - 8.91%, far exceeding other Nordic countries. The rest of Scandinavia clusters around 2-3% on the same topic, suggesting cultural or survey-specific factors unique to Iceland.</a:t>
            </a:r>
            <a:endParaRPr lang="en-US" sz="1350" dirty="0"/>
          </a:p>
        </p:txBody>
      </p:sp>
      <p:sp>
        <p:nvSpPr>
          <p:cNvPr id="5" name="Text 2"/>
          <p:cNvSpPr/>
          <p:nvPr/>
        </p:nvSpPr>
        <p:spPr>
          <a:xfrm>
            <a:off x="2166519" y="4352925"/>
            <a:ext cx="4810812" cy="36195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Why does Iceland differ so dramatically? The answer may lie in language, survey methodology, or cultural factors requiring deeper investigation.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005780" y="2276475"/>
          <a:ext cx="7132290" cy="2414586"/>
        </p:xfrm>
        <a:graphic>
          <a:graphicData uri="http://schemas.openxmlformats.org/drawingml/2006/table">
            <a:tbl>
              <a:tblPr/>
              <a:tblGrid>
                <a:gridCol w="1426458">
                  <a:extLst>
                    <a:ext uri="{9D8B030D-6E8A-4147-A177-3AD203B41FA5}">
                      <a16:colId xmlns:a16="http://schemas.microsoft.com/office/drawing/2014/main" val="20000"/>
                    </a:ext>
                  </a:extLst>
                </a:gridCol>
                <a:gridCol w="1426458">
                  <a:extLst>
                    <a:ext uri="{9D8B030D-6E8A-4147-A177-3AD203B41FA5}">
                      <a16:colId xmlns:a16="http://schemas.microsoft.com/office/drawing/2014/main" val="20001"/>
                    </a:ext>
                  </a:extLst>
                </a:gridCol>
                <a:gridCol w="1426458">
                  <a:extLst>
                    <a:ext uri="{9D8B030D-6E8A-4147-A177-3AD203B41FA5}">
                      <a16:colId xmlns:a16="http://schemas.microsoft.com/office/drawing/2014/main" val="20002"/>
                    </a:ext>
                  </a:extLst>
                </a:gridCol>
                <a:gridCol w="1426458">
                  <a:extLst>
                    <a:ext uri="{9D8B030D-6E8A-4147-A177-3AD203B41FA5}">
                      <a16:colId xmlns:a16="http://schemas.microsoft.com/office/drawing/2014/main" val="20003"/>
                    </a:ext>
                  </a:extLst>
                </a:gridCol>
                <a:gridCol w="1426458">
                  <a:extLst>
                    <a:ext uri="{9D8B030D-6E8A-4147-A177-3AD203B41FA5}">
                      <a16:colId xmlns:a16="http://schemas.microsoft.com/office/drawing/2014/main" val="20004"/>
                    </a:ext>
                  </a:extLst>
                </a:gridCol>
              </a:tblGrid>
              <a:tr h="402431">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Question</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2002</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2012</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2022</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Trend</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2431">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Q1a</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0.58%</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2.46%</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2.53%</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EF4444"/>
                          </a:solidFill>
                          <a:latin typeface="Arial" pitchFamily="34" charset="0"/>
                          <a:ea typeface="Arial" pitchFamily="34" charset="-122"/>
                          <a:cs typeface="Arial" pitchFamily="34" charset="-120"/>
                        </a:rPr>
                        <a:t>↑ +1.95%</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02431">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Q1b</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1.32%</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2.05%</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1.60%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 +0.28%</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02431">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Q1c</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0.74%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2.46%</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1.18%</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 +0.44%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402431">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Q1d</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2.81%</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5.74%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2.02%</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22C55E"/>
                          </a:solidFill>
                          <a:latin typeface="Arial" pitchFamily="34" charset="0"/>
                          <a:ea typeface="Arial" pitchFamily="34" charset="-122"/>
                          <a:cs typeface="Arial" pitchFamily="34" charset="-120"/>
                        </a:rPr>
                        <a:t>↓ -0.79%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r h="402431">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Q1e</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2.98%</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6.07%</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4.63%</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 +1.65%</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2002 → 2022: How Has Silence Changed?</a:t>
            </a:r>
            <a:endParaRPr lang="en-US" sz="2700" dirty="0"/>
          </a:p>
        </p:txBody>
      </p:sp>
      <p:sp>
        <p:nvSpPr>
          <p:cNvPr id="4" name="Text 1"/>
          <p:cNvSpPr/>
          <p:nvPr/>
        </p:nvSpPr>
        <p:spPr>
          <a:xfrm>
            <a:off x="609600" y="1247775"/>
            <a:ext cx="7924800" cy="8001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Twenty years of data reveal mixed temporal patterns. Some questions show increased silence over time - suggesting topics are becoming more controversial. Others remain stable or decline slightly. There is no universal trend toward either greater openness or greater silence. Silence ebbs and flows by topic.</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1" y="2352675"/>
            <a:ext cx="2407922" cy="1323975"/>
          </a:xfrm>
          <a:prstGeom prst="rect">
            <a:avLst/>
          </a:prstGeom>
          <a:solidFill>
            <a:srgbClr val="1E293B"/>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3284223" y="2352675"/>
            <a:ext cx="2407922" cy="1323975"/>
          </a:xfrm>
          <a:prstGeom prst="rect">
            <a:avLst/>
          </a:prstGeom>
          <a:solidFill>
            <a:srgbClr val="1E293B"/>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5965124" y="2352675"/>
            <a:ext cx="2407922" cy="1323975"/>
          </a:xfrm>
          <a:prstGeom prst="rect">
            <a:avLst/>
          </a:prstGeom>
          <a:solidFill>
            <a:srgbClr val="1E293B"/>
          </a:solidFill>
          <a:ln/>
          <a:effectLst>
            <a:outerShdw blurRad="76200" dist="381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The Taboo Gap Revealed</a:t>
            </a:r>
            <a:endParaRPr lang="en-US" sz="2700" dirty="0"/>
          </a:p>
        </p:txBody>
      </p:sp>
      <p:sp>
        <p:nvSpPr>
          <p:cNvPr id="6" name="Text 4"/>
          <p:cNvSpPr/>
          <p:nvPr/>
        </p:nvSpPr>
        <p:spPr>
          <a:xfrm>
            <a:off x="609600" y="1247775"/>
            <a:ext cx="7924800" cy="8001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When we ask about leadership roles versus household control, responses differ dramatically. This gap reveals what society truly considers taboo. Some topics trigger silence only when framed as leadership questions - exposing deep cultural discomfort about gender and power.</a:t>
            </a:r>
            <a:endParaRPr lang="en-US" sz="1350" dirty="0"/>
          </a:p>
        </p:txBody>
      </p:sp>
      <p:sp>
        <p:nvSpPr>
          <p:cNvPr id="7" name="Text 5"/>
          <p:cNvSpPr/>
          <p:nvPr/>
        </p:nvSpPr>
        <p:spPr>
          <a:xfrm>
            <a:off x="876301" y="2581275"/>
            <a:ext cx="2302575" cy="381000"/>
          </a:xfrm>
          <a:prstGeom prst="rect">
            <a:avLst/>
          </a:prstGeom>
          <a:noFill/>
          <a:ln/>
        </p:spPr>
        <p:txBody>
          <a:bodyPr wrap="square" lIns="0" tIns="0" rIns="0" bIns="0" rtlCol="0" anchor="t"/>
          <a:lstStyle/>
          <a:p>
            <a:pPr marL="0" indent="0">
              <a:lnSpc>
                <a:spcPts val="3000"/>
              </a:lnSpc>
              <a:buNone/>
            </a:pPr>
            <a:r>
              <a:rPr lang="en-US" sz="3000" b="1" dirty="0">
                <a:solidFill>
                  <a:srgbClr val="38BDF8"/>
                </a:solidFill>
                <a:latin typeface="Arial" pitchFamily="34" charset="0"/>
                <a:ea typeface="Arial" pitchFamily="34" charset="-122"/>
                <a:cs typeface="Arial" pitchFamily="34" charset="-120"/>
              </a:rPr>
              <a:t>834×</a:t>
            </a:r>
            <a:endParaRPr lang="en-US" sz="3000" dirty="0"/>
          </a:p>
        </p:txBody>
      </p:sp>
      <p:sp>
        <p:nvSpPr>
          <p:cNvPr id="8" name="Text 6"/>
          <p:cNvSpPr/>
          <p:nvPr/>
        </p:nvSpPr>
        <p:spPr>
          <a:xfrm>
            <a:off x="876301" y="3038475"/>
            <a:ext cx="2302575"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Parental roles odds ratio</a:t>
            </a:r>
            <a:endParaRPr lang="en-US" sz="1050" dirty="0"/>
          </a:p>
        </p:txBody>
      </p:sp>
      <p:sp>
        <p:nvSpPr>
          <p:cNvPr id="9" name="Text 7"/>
          <p:cNvSpPr/>
          <p:nvPr/>
        </p:nvSpPr>
        <p:spPr>
          <a:xfrm>
            <a:off x="876301" y="3295650"/>
            <a:ext cx="2302575" cy="152400"/>
          </a:xfrm>
          <a:prstGeom prst="rect">
            <a:avLst/>
          </a:prstGeom>
          <a:noFill/>
          <a:ln/>
        </p:spPr>
        <p:txBody>
          <a:bodyPr wrap="square" lIns="0" tIns="0" rIns="0" bIns="0" rtlCol="0" anchor="t"/>
          <a:lstStyle/>
          <a:p>
            <a:pPr marL="0" indent="0">
              <a:lnSpc>
                <a:spcPts val="1260"/>
              </a:lnSpc>
              <a:buNone/>
            </a:pPr>
            <a:r>
              <a:rPr lang="en-US" sz="900" dirty="0">
                <a:solidFill>
                  <a:srgbClr val="CBD5E1"/>
                </a:solidFill>
                <a:latin typeface="Arial" pitchFamily="34" charset="0"/>
                <a:ea typeface="Arial" pitchFamily="34" charset="-122"/>
                <a:cs typeface="Arial" pitchFamily="34" charset="-120"/>
              </a:rPr>
              <a:t>HUGE difference (p&lt;0.001)</a:t>
            </a:r>
            <a:endParaRPr lang="en-US" sz="900" dirty="0"/>
          </a:p>
        </p:txBody>
      </p:sp>
      <p:sp>
        <p:nvSpPr>
          <p:cNvPr id="10" name="Text 8"/>
          <p:cNvSpPr/>
          <p:nvPr/>
        </p:nvSpPr>
        <p:spPr>
          <a:xfrm>
            <a:off x="3550923" y="2581275"/>
            <a:ext cx="2302575" cy="381000"/>
          </a:xfrm>
          <a:prstGeom prst="rect">
            <a:avLst/>
          </a:prstGeom>
          <a:noFill/>
          <a:ln/>
        </p:spPr>
        <p:txBody>
          <a:bodyPr wrap="square" lIns="0" tIns="0" rIns="0" bIns="0" rtlCol="0" anchor="t"/>
          <a:lstStyle/>
          <a:p>
            <a:pPr marL="0" indent="0">
              <a:lnSpc>
                <a:spcPts val="3000"/>
              </a:lnSpc>
              <a:buNone/>
            </a:pPr>
            <a:r>
              <a:rPr lang="en-US" sz="3000" b="1" dirty="0">
                <a:solidFill>
                  <a:srgbClr val="38BDF8"/>
                </a:solidFill>
                <a:latin typeface="Arial" pitchFamily="34" charset="0"/>
                <a:ea typeface="Arial" pitchFamily="34" charset="-122"/>
                <a:cs typeface="Arial" pitchFamily="34" charset="-120"/>
              </a:rPr>
              <a:t>17.5×</a:t>
            </a:r>
            <a:endParaRPr lang="en-US" sz="3000" dirty="0"/>
          </a:p>
        </p:txBody>
      </p:sp>
      <p:sp>
        <p:nvSpPr>
          <p:cNvPr id="11" name="Text 9"/>
          <p:cNvSpPr/>
          <p:nvPr/>
        </p:nvSpPr>
        <p:spPr>
          <a:xfrm>
            <a:off x="3550923" y="3038475"/>
            <a:ext cx="2302575"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Gender attitudes odds ratio</a:t>
            </a:r>
            <a:endParaRPr lang="en-US" sz="1050" dirty="0"/>
          </a:p>
        </p:txBody>
      </p:sp>
      <p:sp>
        <p:nvSpPr>
          <p:cNvPr id="12" name="Text 10"/>
          <p:cNvSpPr/>
          <p:nvPr/>
        </p:nvSpPr>
        <p:spPr>
          <a:xfrm>
            <a:off x="3550923" y="3295650"/>
            <a:ext cx="2302575" cy="152400"/>
          </a:xfrm>
          <a:prstGeom prst="rect">
            <a:avLst/>
          </a:prstGeom>
          <a:noFill/>
          <a:ln/>
        </p:spPr>
        <p:txBody>
          <a:bodyPr wrap="square" lIns="0" tIns="0" rIns="0" bIns="0" rtlCol="0" anchor="t"/>
          <a:lstStyle/>
          <a:p>
            <a:pPr marL="0" indent="0">
              <a:lnSpc>
                <a:spcPts val="1260"/>
              </a:lnSpc>
              <a:buNone/>
            </a:pPr>
            <a:r>
              <a:rPr lang="en-US" sz="900" dirty="0">
                <a:solidFill>
                  <a:srgbClr val="CBD5E1"/>
                </a:solidFill>
                <a:latin typeface="Arial" pitchFamily="34" charset="0"/>
                <a:ea typeface="Arial" pitchFamily="34" charset="-122"/>
                <a:cs typeface="Arial" pitchFamily="34" charset="-120"/>
              </a:rPr>
              <a:t>Strong effect (p&lt;0.001)</a:t>
            </a:r>
            <a:endParaRPr lang="en-US" sz="900" dirty="0"/>
          </a:p>
        </p:txBody>
      </p:sp>
      <p:sp>
        <p:nvSpPr>
          <p:cNvPr id="13" name="Text 11"/>
          <p:cNvSpPr/>
          <p:nvPr/>
        </p:nvSpPr>
        <p:spPr>
          <a:xfrm>
            <a:off x="6231824" y="2581275"/>
            <a:ext cx="2302575" cy="381000"/>
          </a:xfrm>
          <a:prstGeom prst="rect">
            <a:avLst/>
          </a:prstGeom>
          <a:noFill/>
          <a:ln/>
        </p:spPr>
        <p:txBody>
          <a:bodyPr wrap="square" lIns="0" tIns="0" rIns="0" bIns="0" rtlCol="0" anchor="t"/>
          <a:lstStyle/>
          <a:p>
            <a:pPr marL="0" indent="0">
              <a:lnSpc>
                <a:spcPts val="3000"/>
              </a:lnSpc>
              <a:buNone/>
            </a:pPr>
            <a:r>
              <a:rPr lang="en-US" sz="3000" b="1" dirty="0">
                <a:solidFill>
                  <a:srgbClr val="38BDF8"/>
                </a:solidFill>
                <a:latin typeface="Arial" pitchFamily="34" charset="0"/>
                <a:ea typeface="Arial" pitchFamily="34" charset="-122"/>
                <a:cs typeface="Arial" pitchFamily="34" charset="-120"/>
              </a:rPr>
              <a:t>3.6×</a:t>
            </a:r>
            <a:endParaRPr lang="en-US" sz="3000" dirty="0"/>
          </a:p>
        </p:txBody>
      </p:sp>
      <p:sp>
        <p:nvSpPr>
          <p:cNvPr id="14" name="Text 12"/>
          <p:cNvSpPr/>
          <p:nvPr/>
        </p:nvSpPr>
        <p:spPr>
          <a:xfrm>
            <a:off x="6231824" y="3038475"/>
            <a:ext cx="2302575"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Wellbeing odds ratio</a:t>
            </a:r>
            <a:endParaRPr lang="en-US" sz="1050" dirty="0"/>
          </a:p>
        </p:txBody>
      </p:sp>
      <p:sp>
        <p:nvSpPr>
          <p:cNvPr id="15" name="Text 13"/>
          <p:cNvSpPr/>
          <p:nvPr/>
        </p:nvSpPr>
        <p:spPr>
          <a:xfrm>
            <a:off x="6231824" y="3295650"/>
            <a:ext cx="2302575" cy="152400"/>
          </a:xfrm>
          <a:prstGeom prst="rect">
            <a:avLst/>
          </a:prstGeom>
          <a:noFill/>
          <a:ln/>
        </p:spPr>
        <p:txBody>
          <a:bodyPr wrap="square" lIns="0" tIns="0" rIns="0" bIns="0" rtlCol="0" anchor="t"/>
          <a:lstStyle/>
          <a:p>
            <a:pPr marL="0" indent="0">
              <a:lnSpc>
                <a:spcPts val="1260"/>
              </a:lnSpc>
              <a:buNone/>
            </a:pPr>
            <a:r>
              <a:rPr lang="en-US" sz="900" dirty="0">
                <a:solidFill>
                  <a:srgbClr val="CBD5E1"/>
                </a:solidFill>
                <a:latin typeface="Arial" pitchFamily="34" charset="0"/>
                <a:ea typeface="Arial" pitchFamily="34" charset="-122"/>
                <a:cs typeface="Arial" pitchFamily="34" charset="-120"/>
              </a:rPr>
              <a:t>Moderate effect (p&lt;0.001)</a:t>
            </a:r>
            <a:endParaRPr lang="en-US" sz="900" dirty="0"/>
          </a:p>
        </p:txBody>
      </p:sp>
      <p:sp>
        <p:nvSpPr>
          <p:cNvPr id="16" name="Text 14"/>
          <p:cNvSpPr/>
          <p:nvPr/>
        </p:nvSpPr>
        <p:spPr>
          <a:xfrm>
            <a:off x="3090294" y="4210050"/>
            <a:ext cx="2795780" cy="180975"/>
          </a:xfrm>
          <a:prstGeom prst="rect">
            <a:avLst/>
          </a:prstGeom>
          <a:noFill/>
          <a:ln/>
        </p:spPr>
        <p:txBody>
          <a:bodyPr wrap="square" lIns="0" tIns="0" rIns="0" bIns="0" rtlCol="0" anchor="t"/>
          <a:lstStyle/>
          <a:p>
            <a:pPr marL="0" indent="0" algn="ctr">
              <a:lnSpc>
                <a:spcPts val="1470"/>
              </a:lnSpc>
              <a:buNone/>
            </a:pPr>
            <a:r>
              <a:rPr lang="en-US" sz="1050" b="1" dirty="0">
                <a:solidFill>
                  <a:srgbClr val="38BDF8"/>
                </a:solidFill>
                <a:latin typeface="Arial" pitchFamily="34" charset="0"/>
                <a:ea typeface="Arial" pitchFamily="34" charset="-122"/>
                <a:cs typeface="Arial" pitchFamily="34" charset="-120"/>
              </a:rPr>
              <a:t>Key insight:</a:t>
            </a:r>
            <a:r>
              <a:rPr lang="en-US" sz="1050" dirty="0">
                <a:solidFill>
                  <a:srgbClr val="94A3B8"/>
                </a:solidFill>
                <a:latin typeface="Arial" pitchFamily="34" charset="0"/>
                <a:ea typeface="Arial" pitchFamily="34" charset="-122"/>
                <a:cs typeface="Arial" pitchFamily="34" charset="-120"/>
              </a:rPr>
              <a:t> Parental roles trigger the strongest leadership vs. control gap - the most culturally sensitive boundary.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07690" y="2924175"/>
          <a:ext cx="7528470" cy="1609724"/>
        </p:xfrm>
        <a:graphic>
          <a:graphicData uri="http://schemas.openxmlformats.org/drawingml/2006/table">
            <a:tbl>
              <a:tblPr/>
              <a:tblGrid>
                <a:gridCol w="1505694">
                  <a:extLst>
                    <a:ext uri="{9D8B030D-6E8A-4147-A177-3AD203B41FA5}">
                      <a16:colId xmlns:a16="http://schemas.microsoft.com/office/drawing/2014/main" val="20000"/>
                    </a:ext>
                  </a:extLst>
                </a:gridCol>
                <a:gridCol w="1505694">
                  <a:extLst>
                    <a:ext uri="{9D8B030D-6E8A-4147-A177-3AD203B41FA5}">
                      <a16:colId xmlns:a16="http://schemas.microsoft.com/office/drawing/2014/main" val="20001"/>
                    </a:ext>
                  </a:extLst>
                </a:gridCol>
                <a:gridCol w="1505694">
                  <a:extLst>
                    <a:ext uri="{9D8B030D-6E8A-4147-A177-3AD203B41FA5}">
                      <a16:colId xmlns:a16="http://schemas.microsoft.com/office/drawing/2014/main" val="20002"/>
                    </a:ext>
                  </a:extLst>
                </a:gridCol>
                <a:gridCol w="1505694">
                  <a:extLst>
                    <a:ext uri="{9D8B030D-6E8A-4147-A177-3AD203B41FA5}">
                      <a16:colId xmlns:a16="http://schemas.microsoft.com/office/drawing/2014/main" val="20003"/>
                    </a:ext>
                  </a:extLst>
                </a:gridCol>
                <a:gridCol w="1505694">
                  <a:extLst>
                    <a:ext uri="{9D8B030D-6E8A-4147-A177-3AD203B41FA5}">
                      <a16:colId xmlns:a16="http://schemas.microsoft.com/office/drawing/2014/main" val="20004"/>
                    </a:ext>
                  </a:extLst>
                </a:gridCol>
              </a:tblGrid>
              <a:tr h="402431">
                <a:tc>
                  <a:txBody>
                    <a:bodyPr/>
                    <a:lstStyle/>
                    <a:p>
                      <a:pPr marL="0" indent="0" algn="l">
                        <a:buNone/>
                      </a:pPr>
                      <a:r>
                        <a:rPr lang="en-US" sz="1140" b="1" dirty="0">
                          <a:solidFill>
                            <a:srgbClr val="38BDF8"/>
                          </a:solidFill>
                          <a:latin typeface="Arial" pitchFamily="34" charset="0"/>
                          <a:ea typeface="Arial" pitchFamily="34" charset="-122"/>
                          <a:cs typeface="Arial" pitchFamily="34" charset="-120"/>
                        </a:rPr>
                        <a:t>Finding</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Odds Ratio</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95% CI Lower</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95% CI Upper</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P-value</a:t>
                      </a:r>
                      <a:endParaRPr lang="en-US" sz="1140" dirty="0">
                        <a:latin typeface="Arial" charset="0"/>
                        <a:ea typeface="Arial" charset="0"/>
                        <a:cs typeface="Arial" charset="0"/>
                      </a:endParaRPr>
                    </a:p>
                  </a:txBody>
                  <a:tcPr anchor="ctr">
                    <a:lnL w="0" cap="flat" cmpd="sng" algn="ctr">
                      <a:noFill/>
                    </a:lnL>
                    <a:lnR w="0" cap="flat" cmpd="sng" algn="ctr">
                      <a:noFill/>
                    </a:lnR>
                    <a:lnT w="0" cap="flat" cmpd="sng" algn="ctr">
                      <a:noFill/>
                    </a:lnT>
                    <a:lnB w="25400" cap="flat" cmpd="sng" algn="ctr">
                      <a:solidFill>
                        <a:srgbClr val="38BDF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2431">
                <a:tc>
                  <a:txBody>
                    <a:bodyPr/>
                    <a:lstStyle/>
                    <a:p>
                      <a:pPr marL="0" indent="0">
                        <a:buNone/>
                      </a:pPr>
                      <a:r>
                        <a:rPr lang="en-US" sz="1140" dirty="0">
                          <a:solidFill>
                            <a:srgbClr val="CBD5E1"/>
                          </a:solidFill>
                          <a:latin typeface="Arial" pitchFamily="34" charset="0"/>
                          <a:ea typeface="Arial" pitchFamily="34" charset="-122"/>
                          <a:cs typeface="Arial" pitchFamily="34" charset="-120"/>
                        </a:rPr>
                        <a:t>Parental roles</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834</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566</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1,230</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&lt;0.001</a:t>
                      </a:r>
                      <a:endParaRPr lang="en-US" sz="1140" dirty="0">
                        <a:latin typeface="Arial" charset="0"/>
                        <a:ea typeface="Arial" charset="0"/>
                        <a:cs typeface="Arial" charset="0"/>
                      </a:endParaRPr>
                    </a:p>
                  </a:txBody>
                  <a:tcPr anchor="ctr">
                    <a:lnL w="0" cap="flat" cmpd="sng" algn="ctr">
                      <a:noFill/>
                    </a:lnL>
                    <a:lnR w="0" cap="flat" cmpd="sng" algn="ctr">
                      <a:noFill/>
                    </a:lnR>
                    <a:lnT w="25400" cap="flat" cmpd="sng" algn="ctr">
                      <a:solidFill>
                        <a:srgbClr val="38BDF8"/>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02431">
                <a:tc>
                  <a:txBody>
                    <a:bodyPr/>
                    <a:lstStyle/>
                    <a:p>
                      <a:pPr marL="0" indent="0">
                        <a:buNone/>
                      </a:pPr>
                      <a:r>
                        <a:rPr lang="en-US" sz="1140" dirty="0">
                          <a:solidFill>
                            <a:srgbClr val="CBD5E1"/>
                          </a:solidFill>
                          <a:latin typeface="Arial" pitchFamily="34" charset="0"/>
                          <a:ea typeface="Arial" pitchFamily="34" charset="-122"/>
                          <a:cs typeface="Arial" pitchFamily="34" charset="-120"/>
                        </a:rPr>
                        <a:t>Gender attitudes</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17.5</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14.0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22.0</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&lt;0.001</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02431">
                <a:tc>
                  <a:txBody>
                    <a:bodyPr/>
                    <a:lstStyle/>
                    <a:p>
                      <a:pPr marL="0" indent="0">
                        <a:buNone/>
                      </a:pPr>
                      <a:r>
                        <a:rPr lang="en-US" sz="1140" dirty="0">
                          <a:solidFill>
                            <a:srgbClr val="CBD5E1"/>
                          </a:solidFill>
                          <a:latin typeface="Arial" pitchFamily="34" charset="0"/>
                          <a:ea typeface="Arial" pitchFamily="34" charset="-122"/>
                          <a:cs typeface="Arial" pitchFamily="34" charset="-120"/>
                        </a:rPr>
                        <a:t>Wellbeing</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b="1" dirty="0">
                          <a:solidFill>
                            <a:srgbClr val="38BDF8"/>
                          </a:solidFill>
                          <a:latin typeface="Arial" pitchFamily="34" charset="0"/>
                          <a:ea typeface="Arial" pitchFamily="34" charset="-122"/>
                          <a:cs typeface="Arial" pitchFamily="34" charset="-120"/>
                        </a:rPr>
                        <a:t>3.6</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2.9</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4.4</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1140" dirty="0">
                          <a:solidFill>
                            <a:srgbClr val="CBD5E1"/>
                          </a:solidFill>
                          <a:latin typeface="Arial" pitchFamily="34" charset="0"/>
                          <a:ea typeface="Arial" pitchFamily="34" charset="-122"/>
                          <a:cs typeface="Arial" pitchFamily="34" charset="-120"/>
                        </a:rPr>
                        <a:t>&lt;0.001</a:t>
                      </a:r>
                      <a:endParaRPr lang="en-US" sz="1140" dirty="0">
                        <a:latin typeface="Arial" charset="0"/>
                        <a:ea typeface="Arial" charset="0"/>
                        <a:cs typeface="Arial" charset="0"/>
                      </a:endParaRPr>
                    </a:p>
                  </a:txBody>
                  <a:tcPr anchor="ctr">
                    <a:lnL w="0" cap="flat" cmpd="sng" algn="ctr">
                      <a:noFill/>
                    </a:lnL>
                    <a:lnR w="0" cap="flat" cmpd="sng" algn="ctr">
                      <a:noFill/>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How Strong Are These Patterns?</a:t>
            </a:r>
            <a:endParaRPr lang="en-US" sz="2700" dirty="0"/>
          </a:p>
        </p:txBody>
      </p:sp>
      <p:sp>
        <p:nvSpPr>
          <p:cNvPr id="4" name="Text 1"/>
          <p:cNvSpPr/>
          <p:nvPr/>
        </p:nvSpPr>
        <p:spPr>
          <a:xfrm>
            <a:off x="609600" y="1247775"/>
            <a:ext cx="7924800" cy="8001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All major findings pass rigorous statistical tests. Every significant result has a p-value below 0.001, meaning there's less than a 0.1% chance these patterns occurred by random chance. Odds ratios range from 2.2 to 834, and confidence intervals are tight - our results are robust and trustworthy.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2171700"/>
            <a:ext cx="7924800" cy="1485900"/>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3657600"/>
            <a:ext cx="7924800" cy="1485900"/>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Two Lenses: Absolute vs Normalized Silence</a:t>
            </a:r>
            <a:endParaRPr lang="en-US" sz="2700" dirty="0"/>
          </a:p>
        </p:txBody>
      </p:sp>
      <p:sp>
        <p:nvSpPr>
          <p:cNvPr id="5" name="Text 3"/>
          <p:cNvSpPr/>
          <p:nvPr/>
        </p:nvSpPr>
        <p:spPr>
          <a:xfrm>
            <a:off x="609600" y="1247775"/>
            <a:ext cx="7924800" cy="800100"/>
          </a:xfrm>
          <a:prstGeom prst="rect">
            <a:avLst/>
          </a:prstGeom>
          <a:noFill/>
          <a:ln/>
        </p:spPr>
        <p:txBody>
          <a:bodyPr wrap="square" lIns="0" tIns="0" rIns="0" bIns="0" rtlCol="0" anchor="t"/>
          <a:lstStyle/>
          <a:p>
            <a:pPr marL="0" indent="0">
              <a:lnSpc>
                <a:spcPts val="2160"/>
              </a:lnSpc>
              <a:buNone/>
            </a:pPr>
            <a:r>
              <a:rPr lang="en-US" sz="1350" dirty="0">
                <a:solidFill>
                  <a:srgbClr val="CBD5E1"/>
                </a:solidFill>
                <a:latin typeface="Arial" pitchFamily="34" charset="0"/>
                <a:ea typeface="Arial" pitchFamily="34" charset="-122"/>
                <a:cs typeface="Arial" pitchFamily="34" charset="-120"/>
              </a:rPr>
              <a:t>Silence looks different depending on how we measure it. Some countries are silent because a topic is universally difficult. Others show unexpected silence patterns that stand out statistically. This reveals cultural distinctions that raw numbers alone cannot capture.</a:t>
            </a:r>
            <a:endParaRPr lang="en-US" sz="1350" dirty="0"/>
          </a:p>
        </p:txBody>
      </p:sp>
      <p:sp>
        <p:nvSpPr>
          <p:cNvPr id="6" name="Text 4"/>
          <p:cNvSpPr/>
          <p:nvPr/>
        </p:nvSpPr>
        <p:spPr>
          <a:xfrm>
            <a:off x="838200" y="2400300"/>
            <a:ext cx="7616952" cy="314325"/>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Arial" pitchFamily="34" charset="0"/>
                <a:ea typeface="Arial" pitchFamily="34" charset="-122"/>
                <a:cs typeface="Arial" pitchFamily="34" charset="-120"/>
              </a:rPr>
              <a:t>Absolute Silence</a:t>
            </a:r>
            <a:endParaRPr lang="en-US" sz="2100" dirty="0"/>
          </a:p>
        </p:txBody>
      </p:sp>
      <p:sp>
        <p:nvSpPr>
          <p:cNvPr id="7" name="Text 5"/>
          <p:cNvSpPr/>
          <p:nvPr/>
        </p:nvSpPr>
        <p:spPr>
          <a:xfrm>
            <a:off x="838200" y="2714625"/>
            <a:ext cx="7616952"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Netherlands</a:t>
            </a:r>
            <a:endParaRPr lang="en-US" sz="1320" dirty="0"/>
          </a:p>
        </p:txBody>
      </p:sp>
      <p:sp>
        <p:nvSpPr>
          <p:cNvPr id="8" name="Text 6"/>
          <p:cNvSpPr/>
          <p:nvPr/>
        </p:nvSpPr>
        <p:spPr>
          <a:xfrm>
            <a:off x="838200" y="2943225"/>
            <a:ext cx="7616952"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30.4% on work-family</a:t>
            </a:r>
            <a:endParaRPr lang="en-US" sz="1320" dirty="0"/>
          </a:p>
        </p:txBody>
      </p:sp>
      <p:sp>
        <p:nvSpPr>
          <p:cNvPr id="9" name="Text 7"/>
          <p:cNvSpPr/>
          <p:nvPr/>
        </p:nvSpPr>
        <p:spPr>
          <a:xfrm>
            <a:off x="838200" y="3248025"/>
            <a:ext cx="7616952"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Raw "no opinion" rates show which topics people avoid most</a:t>
            </a:r>
            <a:endParaRPr lang="en-US" sz="1050" dirty="0"/>
          </a:p>
        </p:txBody>
      </p:sp>
      <p:sp>
        <p:nvSpPr>
          <p:cNvPr id="10" name="Text 8"/>
          <p:cNvSpPr/>
          <p:nvPr/>
        </p:nvSpPr>
        <p:spPr>
          <a:xfrm>
            <a:off x="838200" y="3886200"/>
            <a:ext cx="7616952" cy="314325"/>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Arial" pitchFamily="34" charset="0"/>
                <a:ea typeface="Arial" pitchFamily="34" charset="-122"/>
                <a:cs typeface="Arial" pitchFamily="34" charset="-120"/>
              </a:rPr>
              <a:t>Normalized Silence</a:t>
            </a:r>
            <a:endParaRPr lang="en-US" sz="2100" dirty="0"/>
          </a:p>
        </p:txBody>
      </p:sp>
      <p:sp>
        <p:nvSpPr>
          <p:cNvPr id="11" name="Text 9"/>
          <p:cNvSpPr/>
          <p:nvPr/>
        </p:nvSpPr>
        <p:spPr>
          <a:xfrm>
            <a:off x="838200" y="4200525"/>
            <a:ext cx="7616952"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Japan</a:t>
            </a:r>
            <a:endParaRPr lang="en-US" sz="1320" dirty="0"/>
          </a:p>
        </p:txBody>
      </p:sp>
      <p:sp>
        <p:nvSpPr>
          <p:cNvPr id="12" name="Text 10"/>
          <p:cNvSpPr/>
          <p:nvPr/>
        </p:nvSpPr>
        <p:spPr>
          <a:xfrm>
            <a:off x="838200" y="4429125"/>
            <a:ext cx="7616952" cy="228600"/>
          </a:xfrm>
          <a:prstGeom prst="rect">
            <a:avLst/>
          </a:prstGeom>
          <a:noFill/>
          <a:ln/>
        </p:spPr>
        <p:txBody>
          <a:bodyPr wrap="square" lIns="0" tIns="0" rIns="0" bIns="0" rtlCol="0" anchor="t"/>
          <a:lstStyle/>
          <a:p>
            <a:pPr marL="0" indent="0">
              <a:lnSpc>
                <a:spcPts val="1848"/>
              </a:lnSpc>
              <a:buNone/>
            </a:pPr>
            <a:r>
              <a:rPr lang="en-US" sz="1320" dirty="0">
                <a:solidFill>
                  <a:srgbClr val="CBD5E1"/>
                </a:solidFill>
                <a:latin typeface="Arial" pitchFamily="34" charset="0"/>
                <a:ea typeface="Arial" pitchFamily="34" charset="-122"/>
                <a:cs typeface="Arial" pitchFamily="34" charset="-120"/>
              </a:rPr>
              <a:t>New families (Z=4.23)</a:t>
            </a:r>
            <a:endParaRPr lang="en-US" sz="1320" dirty="0"/>
          </a:p>
        </p:txBody>
      </p:sp>
      <p:sp>
        <p:nvSpPr>
          <p:cNvPr id="13" name="Text 11"/>
          <p:cNvSpPr/>
          <p:nvPr/>
        </p:nvSpPr>
        <p:spPr>
          <a:xfrm>
            <a:off x="838200" y="4733925"/>
            <a:ext cx="7616952" cy="180975"/>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Z-scores reveal unexpected patterns relative to global baseline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09575"/>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What We Learned</a:t>
            </a:r>
            <a:endParaRPr lang="en-US" sz="2700" dirty="0"/>
          </a:p>
        </p:txBody>
      </p:sp>
      <p:sp>
        <p:nvSpPr>
          <p:cNvPr id="3" name="Text 1"/>
          <p:cNvSpPr/>
          <p:nvPr/>
        </p:nvSpPr>
        <p:spPr>
          <a:xfrm>
            <a:off x="609600" y="1626394"/>
            <a:ext cx="7924800" cy="1143000"/>
          </a:xfrm>
          <a:prstGeom prst="rect">
            <a:avLst/>
          </a:prstGeom>
          <a:noFill/>
          <a:ln/>
        </p:spPr>
        <p:txBody>
          <a:bodyPr wrap="square" lIns="0" tIns="0" rIns="0" bIns="0" rtlCol="0" anchor="t"/>
          <a:lstStyle/>
          <a:p>
            <a:pPr marL="0" indent="0">
              <a:lnSpc>
                <a:spcPts val="2268"/>
              </a:lnSpc>
              <a:buNone/>
            </a:pPr>
            <a:r>
              <a:rPr lang="en-US" sz="1260" b="1" dirty="0">
                <a:solidFill>
                  <a:srgbClr val="38BDF8"/>
                </a:solidFill>
                <a:latin typeface="Arial" pitchFamily="34" charset="0"/>
                <a:ea typeface="Arial" pitchFamily="34" charset="-122"/>
                <a:cs typeface="Arial" pitchFamily="34" charset="-120"/>
              </a:rPr>
              <a:t>Work-family balance</a:t>
            </a:r>
            <a:r>
              <a:rPr lang="en-US" sz="1260" dirty="0">
                <a:solidFill>
                  <a:srgbClr val="CBD5E1"/>
                </a:solidFill>
                <a:latin typeface="Arial" pitchFamily="34" charset="0"/>
                <a:ea typeface="Arial" pitchFamily="34" charset="-122"/>
                <a:cs typeface="Arial" pitchFamily="34" charset="-120"/>
              </a:rPr>
              <a:t> emerges as the universal silence trigger across all developed nations. </a:t>
            </a:r>
            <a:r>
              <a:rPr lang="en-US" sz="1260" b="1" dirty="0">
                <a:solidFill>
                  <a:srgbClr val="38BDF8"/>
                </a:solidFill>
                <a:latin typeface="Arial" pitchFamily="34" charset="0"/>
                <a:ea typeface="Arial" pitchFamily="34" charset="-122"/>
                <a:cs typeface="Arial" pitchFamily="34" charset="-120"/>
              </a:rPr>
              <a:t>Western Europe</a:t>
            </a:r>
            <a:r>
              <a:rPr lang="en-US" sz="1260" dirty="0">
                <a:solidFill>
                  <a:srgbClr val="CBD5E1"/>
                </a:solidFill>
                <a:latin typeface="Arial" pitchFamily="34" charset="0"/>
                <a:ea typeface="Arial" pitchFamily="34" charset="-122"/>
                <a:cs typeface="Arial" pitchFamily="34" charset="-120"/>
              </a:rPr>
              <a:t> consistently shows more silence than Eastern Europe on gender issues, suggesting different cultural frameworks for discussing gender. </a:t>
            </a:r>
            <a:r>
              <a:rPr lang="en-US" sz="1260" b="1" dirty="0">
                <a:solidFill>
                  <a:srgbClr val="38BDF8"/>
                </a:solidFill>
                <a:latin typeface="Arial" pitchFamily="34" charset="0"/>
                <a:ea typeface="Arial" pitchFamily="34" charset="-122"/>
                <a:cs typeface="Arial" pitchFamily="34" charset="-120"/>
              </a:rPr>
              <a:t>Women demonstrate larger taboo gaps</a:t>
            </a:r>
            <a:r>
              <a:rPr lang="en-US" sz="1260" dirty="0">
                <a:solidFill>
                  <a:srgbClr val="CBD5E1"/>
                </a:solidFill>
                <a:latin typeface="Arial" pitchFamily="34" charset="0"/>
                <a:ea typeface="Arial" pitchFamily="34" charset="-122"/>
                <a:cs typeface="Arial" pitchFamily="34" charset="-120"/>
              </a:rPr>
              <a:t> between leadership and household contexts, indicating they experience greater pressure when these topics involve power dynamics.</a:t>
            </a:r>
            <a:endParaRPr lang="en-US" sz="1260" dirty="0"/>
          </a:p>
        </p:txBody>
      </p:sp>
      <p:sp>
        <p:nvSpPr>
          <p:cNvPr id="4" name="Text 2"/>
          <p:cNvSpPr/>
          <p:nvPr/>
        </p:nvSpPr>
        <p:spPr>
          <a:xfrm>
            <a:off x="609600" y="3374231"/>
            <a:ext cx="7924800" cy="857250"/>
          </a:xfrm>
          <a:prstGeom prst="rect">
            <a:avLst/>
          </a:prstGeom>
          <a:noFill/>
          <a:ln/>
        </p:spPr>
        <p:txBody>
          <a:bodyPr wrap="square" lIns="0" tIns="0" rIns="0" bIns="0" rtlCol="0" anchor="t"/>
          <a:lstStyle/>
          <a:p>
            <a:pPr marL="0" indent="0">
              <a:lnSpc>
                <a:spcPts val="2268"/>
              </a:lnSpc>
              <a:buNone/>
            </a:pPr>
            <a:r>
              <a:rPr lang="en-US" sz="1260" b="1" dirty="0">
                <a:solidFill>
                  <a:srgbClr val="38BDF8"/>
                </a:solidFill>
                <a:latin typeface="Arial" pitchFamily="34" charset="0"/>
                <a:ea typeface="Arial" pitchFamily="34" charset="-122"/>
                <a:cs typeface="Arial" pitchFamily="34" charset="-120"/>
              </a:rPr>
              <a:t>Japan stands out statistically</a:t>
            </a:r>
            <a:r>
              <a:rPr lang="en-US" sz="1260" dirty="0">
                <a:solidFill>
                  <a:srgbClr val="CBD5E1"/>
                </a:solidFill>
                <a:latin typeface="Arial" pitchFamily="34" charset="0"/>
                <a:ea typeface="Arial" pitchFamily="34" charset="-122"/>
                <a:cs typeface="Arial" pitchFamily="34" charset="-120"/>
              </a:rPr>
              <a:t> with anomalously high silence on new family structures - a pattern that surprises relative to the global baseline. Finally, </a:t>
            </a:r>
            <a:r>
              <a:rPr lang="en-US" sz="1260" b="1" dirty="0">
                <a:solidFill>
                  <a:srgbClr val="38BDF8"/>
                </a:solidFill>
                <a:latin typeface="Arial" pitchFamily="34" charset="0"/>
                <a:ea typeface="Arial" pitchFamily="34" charset="-122"/>
                <a:cs typeface="Arial" pitchFamily="34" charset="-120"/>
              </a:rPr>
              <a:t>Iceland</a:t>
            </a:r>
            <a:r>
              <a:rPr lang="en-US" sz="1260" dirty="0">
                <a:solidFill>
                  <a:srgbClr val="CBD5E1"/>
                </a:solidFill>
                <a:latin typeface="Arial" pitchFamily="34" charset="0"/>
                <a:ea typeface="Arial" pitchFamily="34" charset="-122"/>
                <a:cs typeface="Arial" pitchFamily="34" charset="-120"/>
              </a:rPr>
              <a:t> demonstrates unique regional patterns in wellbeing discussions, deviating significantly from other Nordic countries.</a:t>
            </a:r>
            <a:endParaRPr lang="en-US" sz="12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503815" y="325357"/>
            <a:ext cx="5920135" cy="4818143"/>
          </a:xfrm>
          <a:prstGeom prst="rect">
            <a:avLst/>
          </a:prstGeom>
          <a:noFill/>
          <a:ln/>
        </p:spPr>
        <p:txBody>
          <a:bodyPr wrap="square" lIns="0" tIns="0" rIns="0" bIns="0" rtlCol="0" anchor="t"/>
          <a:lstStyle/>
          <a:p>
            <a:r>
              <a:rPr lang="en-US" sz="1400" dirty="0">
                <a:solidFill>
                  <a:schemeClr val="bg1">
                    <a:lumMod val="75000"/>
                  </a:schemeClr>
                </a:solidFill>
                <a:latin typeface="Almoni ML v5 AAA Light" pitchFamily="2" charset="-79"/>
                <a:ea typeface="Arial" pitchFamily="34" charset="-122"/>
                <a:cs typeface="Almoni ML v5 AAA Light" pitchFamily="2" charset="-79"/>
              </a:rPr>
              <a:t>Hello darkness, my old friend</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I've come to talk with you again</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Because a vision softly creeping</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Left its seeds while I was sleeping</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And the vision that was planted in my brain</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Still remains</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Within the sound of silence</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In restless dreams, I walked alone</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Narrow streets of cobblestone</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'Neath the halo of a street lamp</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I turned my collar to the cold and damp</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When my eyes were stabbed by the flash of a neon light</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That split the night</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And touched the sound of silence</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And in the naked light, I saw</a:t>
            </a:r>
          </a:p>
          <a:p>
            <a:r>
              <a:rPr lang="en-US" sz="1400" dirty="0">
                <a:solidFill>
                  <a:schemeClr val="bg1">
                    <a:lumMod val="75000"/>
                  </a:schemeClr>
                </a:solidFill>
                <a:latin typeface="Almoni ML v5 AAA Light" pitchFamily="2" charset="-79"/>
                <a:ea typeface="Arial" pitchFamily="34" charset="-122"/>
                <a:cs typeface="Almoni ML v5 AAA Light" pitchFamily="2" charset="-79"/>
              </a:rPr>
              <a:t>Ten thousand people, maybe more</a:t>
            </a:r>
          </a:p>
          <a:p>
            <a:r>
              <a:rPr lang="en-US" sz="1400" dirty="0">
                <a:solidFill>
                  <a:srgbClr val="38BDF8"/>
                </a:solidFill>
                <a:latin typeface="Almoni ML v5 AAA Medium" pitchFamily="2" charset="-79"/>
                <a:ea typeface="Arial" pitchFamily="34" charset="-122"/>
                <a:cs typeface="Almoni ML v5 AAA Medium" pitchFamily="2" charset="-79"/>
              </a:rPr>
              <a:t>People talking without speaking</a:t>
            </a:r>
          </a:p>
          <a:p>
            <a:r>
              <a:rPr lang="en-US" sz="1400" dirty="0">
                <a:solidFill>
                  <a:srgbClr val="38BDF8"/>
                </a:solidFill>
                <a:latin typeface="Almoni ML v5 AAA Medium" pitchFamily="2" charset="-79"/>
                <a:ea typeface="Arial" pitchFamily="34" charset="-122"/>
                <a:cs typeface="Almoni ML v5 AAA Medium" pitchFamily="2" charset="-79"/>
              </a:rPr>
              <a:t>People hearing without listening</a:t>
            </a:r>
          </a:p>
          <a:p>
            <a:r>
              <a:rPr lang="en-US" sz="1400" dirty="0">
                <a:solidFill>
                  <a:srgbClr val="CBD5E1"/>
                </a:solidFill>
                <a:latin typeface="Almoni ML v5 AAA Light" pitchFamily="2" charset="-79"/>
                <a:ea typeface="Arial" pitchFamily="34" charset="-122"/>
                <a:cs typeface="Almoni ML v5 AAA Light" pitchFamily="2" charset="-79"/>
              </a:rPr>
              <a:t>People writing songs that voices never shared</a:t>
            </a:r>
          </a:p>
          <a:p>
            <a:r>
              <a:rPr lang="en-US" sz="1400" dirty="0">
                <a:solidFill>
                  <a:srgbClr val="CBD5E1"/>
                </a:solidFill>
                <a:latin typeface="Almoni ML v5 AAA Light" pitchFamily="2" charset="-79"/>
                <a:ea typeface="Arial" pitchFamily="34" charset="-122"/>
                <a:cs typeface="Almoni ML v5 AAA Light" pitchFamily="2" charset="-79"/>
              </a:rPr>
              <a:t>And no one dared</a:t>
            </a:r>
          </a:p>
          <a:p>
            <a:r>
              <a:rPr lang="en-US" sz="1400" dirty="0">
                <a:solidFill>
                  <a:srgbClr val="CBD5E1"/>
                </a:solidFill>
                <a:latin typeface="Almoni ML v5 AAA Light" pitchFamily="2" charset="-79"/>
                <a:ea typeface="Arial" pitchFamily="34" charset="-122"/>
                <a:cs typeface="Almoni ML v5 AAA Light" pitchFamily="2" charset="-79"/>
              </a:rPr>
              <a:t>Disturb the sound of silence</a:t>
            </a:r>
            <a:br>
              <a:rPr lang="en-US" sz="1400" dirty="0">
                <a:solidFill>
                  <a:srgbClr val="CBD5E1"/>
                </a:solidFill>
                <a:latin typeface="Almoni ML v5 AAA Light" pitchFamily="2" charset="-79"/>
                <a:ea typeface="Arial" pitchFamily="34" charset="-122"/>
                <a:cs typeface="Almoni ML v5 AAA Light" pitchFamily="2" charset="-79"/>
              </a:rPr>
            </a:br>
            <a:r>
              <a:rPr lang="en-US" sz="1400" dirty="0">
                <a:solidFill>
                  <a:srgbClr val="CBD5E1"/>
                </a:solidFill>
                <a:latin typeface="Almoni ML v5 AAA Light" pitchFamily="2" charset="-79"/>
                <a:ea typeface="Arial" pitchFamily="34" charset="-122"/>
                <a:cs typeface="Almoni ML v5 AAA Light" pitchFamily="2" charset="-79"/>
              </a:rPr>
              <a:t>"Fools" said I, "You do not know</a:t>
            </a:r>
          </a:p>
          <a:p>
            <a:r>
              <a:rPr lang="en-US" sz="1400" dirty="0">
                <a:solidFill>
                  <a:srgbClr val="CBD5E1"/>
                </a:solidFill>
                <a:latin typeface="Almoni ML v5 AAA Light" pitchFamily="2" charset="-79"/>
                <a:ea typeface="Arial" pitchFamily="34" charset="-122"/>
                <a:cs typeface="Almoni ML v5 AAA Light" pitchFamily="2" charset="-79"/>
              </a:rPr>
              <a:t>Silence like a cancer grows</a:t>
            </a:r>
          </a:p>
          <a:p>
            <a:r>
              <a:rPr lang="en-US" sz="1400" dirty="0">
                <a:solidFill>
                  <a:srgbClr val="CBD5E1"/>
                </a:solidFill>
                <a:latin typeface="Almoni ML v5 AAA Light" pitchFamily="2" charset="-79"/>
                <a:ea typeface="Arial" pitchFamily="34" charset="-122"/>
                <a:cs typeface="Almoni ML v5 AAA Light" pitchFamily="2" charset="-79"/>
              </a:rPr>
              <a:t>Hear my words that I might teach you</a:t>
            </a:r>
          </a:p>
          <a:p>
            <a:r>
              <a:rPr lang="en-US" sz="1400" dirty="0">
                <a:solidFill>
                  <a:srgbClr val="CBD5E1"/>
                </a:solidFill>
                <a:latin typeface="Almoni ML v5 AAA Light" pitchFamily="2" charset="-79"/>
                <a:ea typeface="Arial" pitchFamily="34" charset="-122"/>
                <a:cs typeface="Almoni ML v5 AAA Light" pitchFamily="2" charset="-79"/>
              </a:rPr>
              <a:t>Take my arms that I might reach you"</a:t>
            </a:r>
          </a:p>
          <a:p>
            <a:endParaRPr lang="en-US" sz="1400" dirty="0">
              <a:solidFill>
                <a:srgbClr val="CBD5E1"/>
              </a:solidFill>
              <a:latin typeface="Almoni ML v5 AAA Light" pitchFamily="2" charset="-79"/>
              <a:ea typeface="Arial" pitchFamily="34" charset="-122"/>
              <a:cs typeface="Almoni ML v5 AAA Light" pitchFamily="2" charset="-79"/>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1473</Words>
  <Application>Microsoft Macintosh PowerPoint</Application>
  <PresentationFormat>On-screen Show (16:9)</PresentationFormat>
  <Paragraphs>275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Almoni ML v5 AAA Light</vt:lpstr>
      <vt:lpstr>Almoni ML v5 AAA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ניב ליבוביץ</cp:lastModifiedBy>
  <cp:revision>3</cp:revision>
  <cp:lastPrinted>2026-01-11T20:58:33Z</cp:lastPrinted>
  <dcterms:created xsi:type="dcterms:W3CDTF">2026-01-11T20:27:54Z</dcterms:created>
  <dcterms:modified xsi:type="dcterms:W3CDTF">2026-01-11T21:04:46Z</dcterms:modified>
</cp:coreProperties>
</file>